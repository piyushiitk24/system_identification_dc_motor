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review of completed work — open-loop identification plus a closed-loop test — and I'm asking for approval to write it up. One structural question drove the whole thesis: is this plant one black box, or a cascade of physical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one thing to leave with. The large directional asymmetry and the only measurable session drift BOTH localise to the cheap L298N driver — up to 2.2x near the deadzone — while the motor block is symmetric to within 9% and reproducible to 1%. Asymmetry confined to one identifiable block is exactly what earns the cascade. I'll point back to this slide all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didn't assume the cascade. The L298N rig departs from the textbook ideal in five ways, and I fixed three candidate models in advance — naive LTI, static-plus-one-time-constant, and static-plus-region-dependent dynamics. The data picks the rung. That ladder is the backbone of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Because static tests fix the driver and transients fix the motor, every behaviour I observe can be attributed to one block. That's what makes the decomposition testable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the ugliness — asymmetry, deadzone, hysteresis — sits in the cheap driver. The PWM-to-voltage map differs by direction by up to a factor of 2.2 near the deadzone, and the driver droops 22 to 27 percent below supply at full duty.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And here is the other half of contribution one. The motor's voltage-to-speed gain is direction-symmetric — 26.94 forward versus 24.52 reverse, a nine percent gap — and reproducible to about one percent. The LARGE asymmetry of the previous slide does not reappear in the motor. Asymmetry in one block, a clean other block: that is what earns the 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global time constant is misspecified by a factor of two and is rejected. Acceleration tau is a broad bathtub in PWM — about 81 milliseconds mid-range, rising to 200 near breakaway and 150 near full drive. Deceleration is a separate regime, roughly twice as slow, peaking at 321 to 366 milliseconds for stops that coast through the high-friction deadzone. The direction asymmetry even reverses sign between speeding up and slowing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Leave-one-out cross-validation — adopted because no held-out dataset ever existed — gives a predictive excess of about 1 rpm for acceleration and 0.1 for deceleration. The ten-times gap traced to cold-start stochasticity: acceleration from rest catches the motor cold. That was a falsifiable prediction, and a warm-motor session confirmed it directly — the acceleration excess collapsed to minus 0.05 rpm.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Re-running the same conditions two weeks later revealed structured drift, not random noise — and it is itself a methodological result. Phase 3 then proved the cost directly: a session-fresh model had a time constant 25 percent off the locked value; reusing the stored parameters would have built a 30-percent-overdamped controller. The rule is firm — recalibrate in situ.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metrics, success criteria and statistics were committed with a SHA-256 hash before a single trial ran — so this is honest in the strict sense. Positive means the cascade wins. It wins on the staircase, the reversal and the small-signal step, all clearly. It LOSES by about 1 rpm on the slow ramp through the deadzone. The pre-registered wins-universally hypothesis is falsified — and the largest win is the reversal, exactly the regime the open-loop work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loss is mechanistically specific. The feedforward inverts the static block, so it inherits the block's slope discontinuity at the breakaway edge. On steps that must cross the deadzone fast, that jump helps — which is why three profiles win. On a slow ramp it injects step-like PWM, producing a 55-rpm reverse overshoot at the zero crossing and breaking the smooth signal a plain PI would give. The fix is a smoothed feedforward. A falsified hypothesis that localises its own failure is a result, not a setback.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None of this undermines the structural claim, and stating it up front is part of why the model is credible. The static map rests on a single sweep, backed by a spot-check and the implicit cross-validation of the step-response endpoints. The dynamic tables are an honestly-labelled two-session composite. The FOPDT fits are effective at the extremes. Validation is interpolation within the grid only. One condition is irreducibly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restate, now proven: the data — not my assumption — splits this plant into a dirty driver and a clean motor; the dynamics need a region-dependent model; it's cross-validated, its drift is characterised, and its closed-loop behaviour is pre-registered and honestly mixed. The work is complete. I'm asking to proceed to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question they ask whose answer is already in the work means I showed something but didn't assert it. When that happens, I flip here and point to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they ask why C earns its complexity over A and B: Model A reaches the wrong level and rises with the wrong shape; Model C tracks both level and transient. The scoreboard on the next slide shows C wins every direction-by-region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they want the headline scoreboard: Model C wins every one of the four direction-by-region groups, on both prediction error and goodness-of-fit. The big jump is adding the static block, A to B; region-dependent tau, B to C, is the consistent finisher.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trajectory figure shows reference versus measured, one pair per profile and controller; on P2 you can see the cascade deviating at the zero crossings. The fairness gate confirms the cascade did not win by hammering harder, and the pre-registration hash was committed before bench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p:bgPr>
    </p:bg>
    <p:spTree>
      <p:nvGrpSpPr>
        <p:cNvPr id="1" name=""/>
        <p:cNvGrpSpPr/>
        <p:nvPr/>
      </p:nvGrpSpPr>
      <p:grpSpPr>
        <a:xfrm>
          <a:off x="0" y="0"/>
          <a:ext cx="0" cy="0"/>
          <a:chOff x="0" y="0"/>
          <a:chExt cx="0" cy="0"/>
        </a:xfrm>
      </p:grpSpPr>
      <p:sp>
        <p:nvSpPr>
          <p:cNvPr id="2" name="Text 0"/>
          <p:cNvSpPr/>
          <p:nvPr/>
        </p:nvSpPr>
        <p:spPr>
          <a:xfrm>
            <a:off x="640080" y="868680"/>
            <a:ext cx="10908792" cy="365760"/>
          </a:xfrm>
          <a:prstGeom prst="rect">
            <a:avLst/>
          </a:prstGeom>
          <a:noFill/>
          <a:ln/>
        </p:spPr>
        <p:txBody>
          <a:bodyPr wrap="square" lIns="0" tIns="0" rIns="0" bIns="0" rtlCol="0" anchor="ctr"/>
          <a:lstStyle/>
          <a:p>
            <a:pPr algn="l" indent="0" marL="0">
              <a:buNone/>
            </a:pPr>
            <a:r>
              <a:rPr lang="en-US" sz="1300" b="1" spc="300" kern="0" dirty="0">
                <a:solidFill>
                  <a:srgbClr val="7FA8C9"/>
                </a:solidFill>
                <a:latin typeface="Trebuchet MS" pitchFamily="34" charset="0"/>
                <a:ea typeface="Trebuchet MS" pitchFamily="34" charset="-122"/>
                <a:cs typeface="Trebuchet MS" pitchFamily="34" charset="-120"/>
              </a:rPr>
              <a:t>M.TECH THESIS REVIEW  ·  CONTROL SYSTEMS  ·  IIT KANPUR</a:t>
            </a:r>
            <a:endParaRPr lang="en-US" sz="1300" dirty="0"/>
          </a:p>
        </p:txBody>
      </p:sp>
      <p:sp>
        <p:nvSpPr>
          <p:cNvPr id="3" name="Text 1"/>
          <p:cNvSpPr/>
          <p:nvPr/>
        </p:nvSpPr>
        <p:spPr>
          <a:xfrm>
            <a:off x="640080" y="1463040"/>
            <a:ext cx="10908792" cy="1143000"/>
          </a:xfrm>
          <a:prstGeom prst="rect">
            <a:avLst/>
          </a:prstGeom>
          <a:noFill/>
          <a:ln/>
        </p:spPr>
        <p:txBody>
          <a:bodyPr wrap="square" lIns="0" tIns="0" rIns="0" bIns="0" rtlCol="0" anchor="t"/>
          <a:lstStyle/>
          <a:p>
            <a:pPr algn="l" indent="0" marL="0">
              <a:buNone/>
            </a:pPr>
            <a:r>
              <a:rPr lang="en-US" sz="3700" b="1" dirty="0">
                <a:solidFill>
                  <a:srgbClr val="FFFFFF"/>
                </a:solidFill>
                <a:latin typeface="Trebuchet MS" pitchFamily="34" charset="0"/>
                <a:ea typeface="Trebuchet MS" pitchFamily="34" charset="-122"/>
                <a:cs typeface="Trebuchet MS" pitchFamily="34" charset="-120"/>
              </a:rPr>
              <a:t>System Identification of a DC Gearmotor and L298N Driver</a:t>
            </a:r>
            <a:endParaRPr lang="en-US" sz="3700" dirty="0"/>
          </a:p>
        </p:txBody>
      </p:sp>
      <p:sp>
        <p:nvSpPr>
          <p:cNvPr id="4" name="Text 2"/>
          <p:cNvSpPr/>
          <p:nvPr/>
        </p:nvSpPr>
        <p:spPr>
          <a:xfrm>
            <a:off x="640080" y="2670048"/>
            <a:ext cx="10908792" cy="502920"/>
          </a:xfrm>
          <a:prstGeom prst="rect">
            <a:avLst/>
          </a:prstGeom>
          <a:noFill/>
          <a:ln/>
        </p:spPr>
        <p:txBody>
          <a:bodyPr wrap="square" lIns="0" tIns="0" rIns="0" bIns="0" rtlCol="0" anchor="ctr"/>
          <a:lstStyle/>
          <a:p>
            <a:pPr algn="l" indent="0" marL="0">
              <a:buNone/>
            </a:pPr>
            <a:r>
              <a:rPr lang="en-US" sz="2000" i="1" dirty="0">
                <a:solidFill>
                  <a:srgbClr val="CADCFC"/>
                </a:solidFill>
                <a:latin typeface="Trebuchet MS" pitchFamily="34" charset="0"/>
                <a:ea typeface="Trebuchet MS" pitchFamily="34" charset="-122"/>
                <a:cs typeface="Trebuchet MS" pitchFamily="34" charset="-120"/>
              </a:rPr>
              <a:t>A validated cascade model with region-dependent dynamics</a:t>
            </a:r>
            <a:endParaRPr lang="en-US" sz="2000" dirty="0"/>
          </a:p>
        </p:txBody>
      </p:sp>
      <p:sp>
        <p:nvSpPr>
          <p:cNvPr id="5" name="Shape 3"/>
          <p:cNvSpPr/>
          <p:nvPr/>
        </p:nvSpPr>
        <p:spPr>
          <a:xfrm>
            <a:off x="640080" y="3456432"/>
            <a:ext cx="10908792" cy="896112"/>
          </a:xfrm>
          <a:prstGeom prst="roundRect">
            <a:avLst>
              <a:gd name="adj" fmla="val 7143"/>
            </a:avLst>
          </a:prstGeom>
          <a:solidFill>
            <a:srgbClr val="1B3A5B"/>
          </a:solidFill>
          <a:ln w="12700">
            <a:solidFill>
              <a:srgbClr val="2C5273"/>
            </a:solidFill>
            <a:prstDash val="solid"/>
          </a:ln>
        </p:spPr>
      </p:sp>
      <p:sp>
        <p:nvSpPr>
          <p:cNvPr id="6" name="Text 4"/>
          <p:cNvSpPr/>
          <p:nvPr/>
        </p:nvSpPr>
        <p:spPr>
          <a:xfrm>
            <a:off x="896112" y="3456432"/>
            <a:ext cx="10396728" cy="8961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claim:  </a:t>
            </a:r>
            <a:pPr indent="0" marL="0">
              <a:buNone/>
            </a:pPr>
            <a:r>
              <a:rPr lang="en-US" sz="1500" dirty="0">
                <a:solidFill>
                  <a:srgbClr val="DCE7F5"/>
                </a:solidFill>
                <a:latin typeface="Calibri" pitchFamily="34" charset="0"/>
                <a:ea typeface="Calibri" pitchFamily="34" charset="-122"/>
                <a:cs typeface="Calibri" pitchFamily="34" charset="-120"/>
              </a:rPr>
              <a:t>the plant is a cascade — a direction-specific driver block, then a near-symmetric motor block — and the split is earned from the data, not assumed.</a:t>
            </a:r>
            <a:endParaRPr lang="en-US" sz="1500" dirty="0"/>
          </a:p>
        </p:txBody>
      </p:sp>
      <p:sp>
        <p:nvSpPr>
          <p:cNvPr id="7" name="Text 5"/>
          <p:cNvSpPr/>
          <p:nvPr/>
        </p:nvSpPr>
        <p:spPr>
          <a:xfrm>
            <a:off x="640080" y="4800600"/>
            <a:ext cx="566928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Piyush Tiwari</a:t>
            </a:r>
            <a:endParaRPr lang="en-US" sz="1500" dirty="0"/>
          </a:p>
          <a:p>
            <a:pPr indent="0" marL="0">
              <a:buNone/>
            </a:pPr>
            <a:r>
              <a:rPr lang="en-US" sz="1200" dirty="0">
                <a:solidFill>
                  <a:srgbClr val="7FA8C9"/>
                </a:solidFill>
                <a:latin typeface="Calibri" pitchFamily="34" charset="0"/>
                <a:ea typeface="Calibri" pitchFamily="34" charset="-122"/>
                <a:cs typeface="Calibri" pitchFamily="34" charset="-120"/>
              </a:rPr>
              <a:t>Roll 241040099  ·  M.Tech, Electrical Engineering</a:t>
            </a:r>
            <a:endParaRPr lang="en-US" sz="1500" dirty="0"/>
          </a:p>
        </p:txBody>
      </p:sp>
      <p:sp>
        <p:nvSpPr>
          <p:cNvPr id="8" name="Text 6"/>
          <p:cNvSpPr/>
          <p:nvPr/>
        </p:nvSpPr>
        <p:spPr>
          <a:xfrm>
            <a:off x="6492240" y="4800600"/>
            <a:ext cx="5056632" cy="822960"/>
          </a:xfrm>
          <a:prstGeom prst="rect">
            <a:avLst/>
          </a:prstGeom>
          <a:noFill/>
          <a:ln/>
        </p:spPr>
        <p:txBody>
          <a:bodyPr wrap="square" lIns="0" tIns="0" rIns="0" bIns="0" rtlCol="0" anchor="t"/>
          <a:lstStyle/>
          <a:p>
            <a:pPr algn="l" indent="0" marL="0">
              <a:buNone/>
            </a:pPr>
            <a:r>
              <a:rPr lang="en-US" sz="1200" dirty="0">
                <a:solidFill>
                  <a:srgbClr val="7FA8C9"/>
                </a:solidFill>
                <a:latin typeface="Calibri" pitchFamily="34" charset="0"/>
                <a:ea typeface="Calibri" pitchFamily="34" charset="-122"/>
                <a:cs typeface="Calibri" pitchFamily="34" charset="-120"/>
              </a:rPr>
              <a:t>Supervisor: Prof. Soumya Ranjan Sahoo</a:t>
            </a:r>
            <a:endParaRPr lang="en-US" sz="1200" dirty="0"/>
          </a:p>
          <a:p>
            <a:pPr algn="l" indent="0" marL="0">
              <a:buNone/>
            </a:pPr>
            <a:r>
              <a:rPr lang="en-US" sz="1200" dirty="0">
                <a:solidFill>
                  <a:srgbClr val="7FA8C9"/>
                </a:solidFill>
                <a:latin typeface="Calibri" pitchFamily="34" charset="0"/>
                <a:ea typeface="Calibri" pitchFamily="34" charset="-122"/>
                <a:cs typeface="Calibri" pitchFamily="34" charset="-120"/>
              </a:rPr>
              <a:t>Co-Supervisor: Dr. Abhilash Patel    ·    May 2026</a:t>
            </a:r>
            <a:endParaRPr lang="en-US" sz="1200" dirty="0"/>
          </a:p>
        </p:txBody>
      </p:sp>
      <p:sp>
        <p:nvSpPr>
          <p:cNvPr id="9" name="Text 7"/>
          <p:cNvSpPr/>
          <p:nvPr/>
        </p:nvSpPr>
        <p:spPr>
          <a:xfrm>
            <a:off x="640080" y="5989320"/>
            <a:ext cx="10908792" cy="320040"/>
          </a:xfrm>
          <a:prstGeom prst="rect">
            <a:avLst/>
          </a:prstGeom>
          <a:noFill/>
          <a:ln/>
        </p:spPr>
        <p:txBody>
          <a:bodyPr wrap="square" lIns="0" tIns="0" rIns="0" bIns="0" rtlCol="0" anchor="ctr"/>
          <a:lstStyle/>
          <a:p>
            <a:pPr algn="l" indent="0" marL="0">
              <a:buNone/>
            </a:pPr>
            <a:r>
              <a:rPr lang="en-US" sz="1100" dirty="0">
                <a:solidFill>
                  <a:srgbClr val="7FA8C9"/>
                </a:solidFill>
                <a:latin typeface="Consolas" pitchFamily="34" charset="0"/>
                <a:ea typeface="Consolas" pitchFamily="34" charset="-122"/>
                <a:cs typeface="Consolas" pitchFamily="34" charset="-120"/>
              </a:rPr>
              <a:t>12 V · 60:1 gearmotor    |    L298N H-bridge    |    600-PPR encoder    |    Arduino Uno R4 Minima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0F2440"/>
                </a:solidFill>
                <a:latin typeface="Trebuchet MS" pitchFamily="34" charset="0"/>
                <a:ea typeface="Trebuchet MS" pitchFamily="34" charset="-122"/>
                <a:cs typeface="Trebuchet MS" pitchFamily="34" charset="-120"/>
              </a:rPr>
              <a:t>THE ONE RESULT</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Asymmetry and drift live in the driver. The motor is clean.</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7" name="Text 4"/>
          <p:cNvSpPr/>
          <p:nvPr/>
        </p:nvSpPr>
        <p:spPr>
          <a:xfrm>
            <a:off x="640080" y="2697480"/>
            <a:ext cx="960120" cy="777240"/>
          </a:xfrm>
          <a:prstGeom prst="rect">
            <a:avLst/>
          </a:prstGeom>
          <a:noFill/>
          <a:ln/>
        </p:spPr>
        <p:txBody>
          <a:bodyPr wrap="square" lIns="0" tIns="0" rIns="0" bIns="0" rtlCol="0" anchor="ctr"/>
          <a:lstStyle/>
          <a:p>
            <a:pPr algn="ctr" indent="0" marL="0">
              <a:buNone/>
            </a:pPr>
            <a:r>
              <a:rPr lang="en-US" sz="1300" b="1" dirty="0">
                <a:solidFill>
                  <a:srgbClr val="0F2440"/>
                </a:solidFill>
                <a:latin typeface="Consolas" pitchFamily="34" charset="0"/>
                <a:ea typeface="Consolas" pitchFamily="34" charset="-122"/>
                <a:cs typeface="Consolas" pitchFamily="34" charset="-120"/>
              </a:rPr>
              <a:t>PWM</a:t>
            </a:r>
            <a:endParaRPr lang="en-US" sz="1300" dirty="0"/>
          </a:p>
          <a:p>
            <a:pPr algn="ctr" indent="0" marL="0">
              <a:buNone/>
            </a:pPr>
            <a:r>
              <a:rPr lang="en-US" sz="1300" b="1" dirty="0">
                <a:solidFill>
                  <a:srgbClr val="0F2440"/>
                </a:solidFill>
                <a:latin typeface="Consolas" pitchFamily="34" charset="0"/>
                <a:ea typeface="Consolas" pitchFamily="34" charset="-122"/>
                <a:cs typeface="Consolas" pitchFamily="34" charset="-120"/>
              </a:rPr>
              <a:t>cmd</a:t>
            </a:r>
            <a:endParaRPr lang="en-US" sz="1300" dirty="0"/>
          </a:p>
        </p:txBody>
      </p:sp>
      <p:sp>
        <p:nvSpPr>
          <p:cNvPr id="8" name="Shape 5"/>
          <p:cNvSpPr/>
          <p:nvPr/>
        </p:nvSpPr>
        <p:spPr>
          <a:xfrm>
            <a:off x="1691640" y="3090672"/>
            <a:ext cx="228600" cy="0"/>
          </a:xfrm>
          <a:prstGeom prst="line">
            <a:avLst/>
          </a:prstGeom>
          <a:noFill/>
          <a:ln w="28575">
            <a:solidFill>
              <a:srgbClr val="0F2440"/>
            </a:solidFill>
            <a:prstDash val="solid"/>
            <a:tailEnd type="triangle"/>
          </a:ln>
        </p:spPr>
      </p:sp>
      <p:sp>
        <p:nvSpPr>
          <p:cNvPr id="9" name="Shape 6"/>
          <p:cNvSpPr/>
          <p:nvPr/>
        </p:nvSpPr>
        <p:spPr>
          <a:xfrm>
            <a:off x="1965960" y="2468880"/>
            <a:ext cx="3383280" cy="1234440"/>
          </a:xfrm>
          <a:prstGeom prst="roundRect">
            <a:avLst>
              <a:gd name="adj" fmla="val 6667"/>
            </a:avLst>
          </a:prstGeom>
          <a:solidFill>
            <a:srgbClr val="FBE8D3"/>
          </a:solidFill>
          <a:ln w="22225">
            <a:solidFill>
              <a:srgbClr val="B45309"/>
            </a:solidFill>
            <a:prstDash val="solid"/>
          </a:ln>
          <a:effectLst>
            <a:outerShdw sx="100000" sy="100000" kx="0" ky="0" algn="bl" rotWithShape="0" blurRad="88900" dist="38100" dir="8100000">
              <a:srgbClr val="0F2440">
                <a:alpha val="12000"/>
              </a:srgbClr>
            </a:outerShdw>
          </a:effectLst>
        </p:spPr>
      </p:sp>
      <p:sp>
        <p:nvSpPr>
          <p:cNvPr id="10" name="Text 7"/>
          <p:cNvSpPr/>
          <p:nvPr/>
        </p:nvSpPr>
        <p:spPr>
          <a:xfrm>
            <a:off x="2103120" y="2615184"/>
            <a:ext cx="3108960" cy="502920"/>
          </a:xfrm>
          <a:prstGeom prst="rect">
            <a:avLst/>
          </a:prstGeom>
          <a:noFill/>
          <a:ln/>
        </p:spPr>
        <p:txBody>
          <a:bodyPr wrap="square" lIns="0" tIns="0" rIns="0" bIns="0" rtlCol="0" anchor="ctr"/>
          <a:lstStyle/>
          <a:p>
            <a:pPr algn="ctr" indent="0" marL="0">
              <a:buNone/>
            </a:pPr>
            <a:r>
              <a:rPr lang="en-US" sz="1500" b="1" dirty="0">
                <a:solidFill>
                  <a:srgbClr val="B45309"/>
                </a:solidFill>
                <a:latin typeface="Trebuchet MS" pitchFamily="34" charset="0"/>
                <a:ea typeface="Trebuchet MS" pitchFamily="34" charset="-122"/>
                <a:cs typeface="Trebuchet MS" pitchFamily="34" charset="-120"/>
              </a:rPr>
              <a:t>STATIC DRIVER BLOCK</a:t>
            </a:r>
            <a:endParaRPr lang="en-US" sz="1500" dirty="0"/>
          </a:p>
        </p:txBody>
      </p:sp>
      <p:sp>
        <p:nvSpPr>
          <p:cNvPr id="11" name="Text 8"/>
          <p:cNvSpPr/>
          <p:nvPr/>
        </p:nvSpPr>
        <p:spPr>
          <a:xfrm>
            <a:off x="2103120" y="3191256"/>
            <a:ext cx="3108960" cy="411480"/>
          </a:xfrm>
          <a:prstGeom prst="rect">
            <a:avLst/>
          </a:prstGeom>
          <a:noFill/>
          <a:ln/>
        </p:spPr>
        <p:txBody>
          <a:bodyPr wrap="square" lIns="0" tIns="0" rIns="0" bIns="0" rtlCol="0" anchor="ctr"/>
          <a:lstStyle/>
          <a:p>
            <a:pPr algn="ctr" indent="0" marL="0">
              <a:buNone/>
            </a:pPr>
            <a:r>
              <a:rPr lang="en-US" sz="1300" dirty="0">
                <a:solidFill>
                  <a:srgbClr val="B45309"/>
                </a:solidFill>
                <a:latin typeface="Consolas" pitchFamily="34" charset="0"/>
                <a:ea typeface="Consolas" pitchFamily="34" charset="-122"/>
                <a:cs typeface="Consolas" pitchFamily="34" charset="-120"/>
              </a:rPr>
              <a:t>PWM  →  V</a:t>
            </a:r>
            <a:pPr algn="ctr" indent="0" marL="0">
              <a:buNone/>
            </a:pPr>
            <a:r>
              <a:rPr lang="en-US" sz="1300" baseline="-40000" dirty="0">
                <a:solidFill>
                  <a:srgbClr val="B45309"/>
                </a:solidFill>
                <a:latin typeface="Consolas" pitchFamily="34" charset="0"/>
                <a:ea typeface="Consolas" pitchFamily="34" charset="-122"/>
                <a:cs typeface="Consolas" pitchFamily="34" charset="-120"/>
              </a:rPr>
              <a:t>motor</a:t>
            </a:r>
            <a:endParaRPr lang="en-US" sz="1300" dirty="0"/>
          </a:p>
        </p:txBody>
      </p:sp>
      <p:sp>
        <p:nvSpPr>
          <p:cNvPr id="12" name="Text 9"/>
          <p:cNvSpPr/>
          <p:nvPr/>
        </p:nvSpPr>
        <p:spPr>
          <a:xfrm>
            <a:off x="5394960" y="2395728"/>
            <a:ext cx="1417320" cy="365760"/>
          </a:xfrm>
          <a:prstGeom prst="rect">
            <a:avLst/>
          </a:prstGeom>
          <a:noFill/>
          <a:ln/>
        </p:spPr>
        <p:txBody>
          <a:bodyPr wrap="square" lIns="0" tIns="0" rIns="0" bIns="0" rtlCol="0" anchor="b"/>
          <a:lstStyle/>
          <a:p>
            <a:pPr algn="ctr" indent="0" marL="0">
              <a:buNone/>
            </a:pPr>
            <a:r>
              <a:rPr lang="en-US" sz="1200" b="1" dirty="0">
                <a:solidFill>
                  <a:srgbClr val="475569"/>
                </a:solidFill>
                <a:latin typeface="Consolas" pitchFamily="34" charset="0"/>
                <a:ea typeface="Consolas" pitchFamily="34" charset="-122"/>
                <a:cs typeface="Consolas" pitchFamily="34" charset="-120"/>
              </a:rPr>
              <a:t>V</a:t>
            </a:r>
            <a:pPr algn="ctr" indent="0" marL="0">
              <a:buNone/>
            </a:pPr>
            <a:r>
              <a:rPr lang="en-US" sz="1200" b="1" baseline="-40000" dirty="0">
                <a:solidFill>
                  <a:srgbClr val="475569"/>
                </a:solidFill>
                <a:latin typeface="Consolas" pitchFamily="34" charset="0"/>
                <a:ea typeface="Consolas" pitchFamily="34" charset="-122"/>
                <a:cs typeface="Consolas" pitchFamily="34" charset="-120"/>
              </a:rPr>
              <a:t>motor</a:t>
            </a:r>
            <a:endParaRPr lang="en-US" sz="1200" dirty="0"/>
          </a:p>
        </p:txBody>
      </p:sp>
      <p:sp>
        <p:nvSpPr>
          <p:cNvPr id="13" name="Shape 10"/>
          <p:cNvSpPr/>
          <p:nvPr/>
        </p:nvSpPr>
        <p:spPr>
          <a:xfrm>
            <a:off x="5394960" y="3090672"/>
            <a:ext cx="1463040" cy="0"/>
          </a:xfrm>
          <a:prstGeom prst="line">
            <a:avLst/>
          </a:prstGeom>
          <a:noFill/>
          <a:ln w="28575">
            <a:solidFill>
              <a:srgbClr val="0F2440"/>
            </a:solidFill>
            <a:prstDash val="solid"/>
            <a:tailEnd type="triangle"/>
          </a:ln>
        </p:spPr>
      </p:sp>
      <p:sp>
        <p:nvSpPr>
          <p:cNvPr id="14" name="Shape 11"/>
          <p:cNvSpPr/>
          <p:nvPr/>
        </p:nvSpPr>
        <p:spPr>
          <a:xfrm>
            <a:off x="6903720" y="2468880"/>
            <a:ext cx="3383280" cy="1234440"/>
          </a:xfrm>
          <a:prstGeom prst="roundRect">
            <a:avLst>
              <a:gd name="adj" fmla="val 6667"/>
            </a:avLst>
          </a:prstGeom>
          <a:solidFill>
            <a:srgbClr val="D6F0EC"/>
          </a:solidFill>
          <a:ln w="22225">
            <a:solidFill>
              <a:srgbClr val="0F766E"/>
            </a:solidFill>
            <a:prstDash val="solid"/>
          </a:ln>
          <a:effectLst>
            <a:outerShdw sx="100000" sy="100000" kx="0" ky="0" algn="bl" rotWithShape="0" blurRad="88900" dist="38100" dir="8100000">
              <a:srgbClr val="0F2440">
                <a:alpha val="12000"/>
              </a:srgbClr>
            </a:outerShdw>
          </a:effectLst>
        </p:spPr>
      </p:sp>
      <p:sp>
        <p:nvSpPr>
          <p:cNvPr id="15" name="Text 12"/>
          <p:cNvSpPr/>
          <p:nvPr/>
        </p:nvSpPr>
        <p:spPr>
          <a:xfrm>
            <a:off x="7040880" y="2615184"/>
            <a:ext cx="3108960" cy="502920"/>
          </a:xfrm>
          <a:prstGeom prst="rect">
            <a:avLst/>
          </a:prstGeom>
          <a:noFill/>
          <a:ln/>
        </p:spPr>
        <p:txBody>
          <a:bodyPr wrap="square" lIns="0" tIns="0" rIns="0" bIns="0" rtlCol="0" anchor="ctr"/>
          <a:lstStyle/>
          <a:p>
            <a:pPr algn="ctr" indent="0" marL="0">
              <a:buNone/>
            </a:pPr>
            <a:r>
              <a:rPr lang="en-US" sz="1500" b="1" dirty="0">
                <a:solidFill>
                  <a:srgbClr val="0F766E"/>
                </a:solidFill>
                <a:latin typeface="Trebuchet MS" pitchFamily="34" charset="0"/>
                <a:ea typeface="Trebuchet MS" pitchFamily="34" charset="-122"/>
                <a:cs typeface="Trebuchet MS" pitchFamily="34" charset="-120"/>
              </a:rPr>
              <a:t>MOTOR DYNAMIC BLOCK</a:t>
            </a:r>
            <a:endParaRPr lang="en-US" sz="1500" dirty="0"/>
          </a:p>
        </p:txBody>
      </p:sp>
      <p:sp>
        <p:nvSpPr>
          <p:cNvPr id="16" name="Text 13"/>
          <p:cNvSpPr/>
          <p:nvPr/>
        </p:nvSpPr>
        <p:spPr>
          <a:xfrm>
            <a:off x="7040880" y="3191256"/>
            <a:ext cx="3108960" cy="411480"/>
          </a:xfrm>
          <a:prstGeom prst="rect">
            <a:avLst/>
          </a:prstGeom>
          <a:noFill/>
          <a:ln/>
        </p:spPr>
        <p:txBody>
          <a:bodyPr wrap="square" lIns="0" tIns="0" rIns="0" bIns="0" rtlCol="0" anchor="ctr"/>
          <a:lstStyle/>
          <a:p>
            <a:pPr algn="ctr" indent="0" marL="0">
              <a:buNone/>
            </a:pPr>
            <a:r>
              <a:rPr lang="en-US" sz="1300" dirty="0">
                <a:solidFill>
                  <a:srgbClr val="0F766E"/>
                </a:solidFill>
                <a:latin typeface="Consolas" pitchFamily="34" charset="0"/>
                <a:ea typeface="Consolas" pitchFamily="34" charset="-122"/>
                <a:cs typeface="Consolas" pitchFamily="34" charset="-120"/>
              </a:rPr>
              <a:t>V</a:t>
            </a:r>
            <a:pPr algn="ctr" indent="0" marL="0">
              <a:buNone/>
            </a:pPr>
            <a:r>
              <a:rPr lang="en-US" sz="1300" baseline="-40000" dirty="0">
                <a:solidFill>
                  <a:srgbClr val="0F766E"/>
                </a:solidFill>
                <a:latin typeface="Consolas" pitchFamily="34" charset="0"/>
                <a:ea typeface="Consolas" pitchFamily="34" charset="-122"/>
                <a:cs typeface="Consolas" pitchFamily="34" charset="-120"/>
              </a:rPr>
              <a:t>motor</a:t>
            </a:r>
            <a:pPr algn="ctr" indent="0" marL="0">
              <a:buNone/>
            </a:pPr>
            <a:r>
              <a:rPr lang="en-US" sz="1300" dirty="0">
                <a:solidFill>
                  <a:srgbClr val="0F766E"/>
                </a:solidFill>
                <a:latin typeface="Consolas" pitchFamily="34" charset="0"/>
                <a:ea typeface="Consolas" pitchFamily="34" charset="-122"/>
                <a:cs typeface="Consolas" pitchFamily="34" charset="-120"/>
              </a:rPr>
              <a:t>  →  RPM</a:t>
            </a:r>
            <a:endParaRPr lang="en-US" sz="1300" dirty="0"/>
          </a:p>
        </p:txBody>
      </p:sp>
      <p:sp>
        <p:nvSpPr>
          <p:cNvPr id="17" name="Shape 14"/>
          <p:cNvSpPr/>
          <p:nvPr/>
        </p:nvSpPr>
        <p:spPr>
          <a:xfrm>
            <a:off x="10332720" y="3090672"/>
            <a:ext cx="411480" cy="0"/>
          </a:xfrm>
          <a:prstGeom prst="line">
            <a:avLst/>
          </a:prstGeom>
          <a:noFill/>
          <a:ln w="28575">
            <a:solidFill>
              <a:srgbClr val="0F2440"/>
            </a:solidFill>
            <a:prstDash val="solid"/>
            <a:tailEnd type="triangle"/>
          </a:ln>
        </p:spPr>
      </p:sp>
      <p:sp>
        <p:nvSpPr>
          <p:cNvPr id="18" name="Text 15"/>
          <p:cNvSpPr/>
          <p:nvPr/>
        </p:nvSpPr>
        <p:spPr>
          <a:xfrm>
            <a:off x="10561320" y="3154680"/>
            <a:ext cx="960120" cy="365760"/>
          </a:xfrm>
          <a:prstGeom prst="rect">
            <a:avLst/>
          </a:prstGeom>
          <a:noFill/>
          <a:ln/>
        </p:spPr>
        <p:txBody>
          <a:bodyPr wrap="square" lIns="0" tIns="0" rIns="0" bIns="0" rtlCol="0" anchor="ctr"/>
          <a:lstStyle/>
          <a:p>
            <a:pPr algn="l" indent="0" marL="0">
              <a:buNone/>
            </a:pPr>
            <a:r>
              <a:rPr lang="en-US" sz="1300" b="1" dirty="0">
                <a:solidFill>
                  <a:srgbClr val="0F2440"/>
                </a:solidFill>
                <a:latin typeface="Consolas" pitchFamily="34" charset="0"/>
                <a:ea typeface="Consolas" pitchFamily="34" charset="-122"/>
                <a:cs typeface="Consolas" pitchFamily="34" charset="-120"/>
              </a:rPr>
              <a:t>RPM</a:t>
            </a:r>
            <a:endParaRPr lang="en-US" sz="1300" dirty="0"/>
          </a:p>
        </p:txBody>
      </p:sp>
      <p:sp>
        <p:nvSpPr>
          <p:cNvPr id="19" name="Text 16"/>
          <p:cNvSpPr/>
          <p:nvPr/>
        </p:nvSpPr>
        <p:spPr>
          <a:xfrm>
            <a:off x="2057400" y="3840480"/>
            <a:ext cx="3246120" cy="822960"/>
          </a:xfrm>
          <a:prstGeom prst="rect">
            <a:avLst/>
          </a:prstGeom>
          <a:noFill/>
          <a:ln/>
        </p:spPr>
        <p:txBody>
          <a:bodyPr wrap="square" lIns="0" tIns="0" rIns="0" bIns="0" rtlCol="0" anchor="t"/>
          <a:lstStyle/>
          <a:p>
            <a:pPr marL="139700" indent="-139700">
              <a:spcAft>
                <a:spcPts val="300"/>
              </a:spcAft>
              <a:buSzPct val="100000"/>
              <a:buChar char="•"/>
            </a:pPr>
            <a:r>
              <a:rPr lang="en-US" sz="1250" dirty="0">
                <a:solidFill>
                  <a:srgbClr val="B45309"/>
                </a:solidFill>
                <a:latin typeface="Calibri" pitchFamily="34" charset="0"/>
                <a:ea typeface="Calibri" pitchFamily="34" charset="-122"/>
                <a:cs typeface="Calibri" pitchFamily="34" charset="-120"/>
              </a:rPr>
              <a:t>hysteretic deadzone</a:t>
            </a:r>
            <a:endParaRPr lang="en-US" sz="1250" dirty="0"/>
          </a:p>
          <a:p>
            <a:pPr marL="139700" indent="-139700">
              <a:spcAft>
                <a:spcPts val="300"/>
              </a:spcAft>
              <a:buSzPct val="100000"/>
              <a:buChar char="•"/>
            </a:pPr>
            <a:r>
              <a:rPr lang="en-US" sz="1250" dirty="0">
                <a:solidFill>
                  <a:srgbClr val="B45309"/>
                </a:solidFill>
                <a:latin typeface="Calibri" pitchFamily="34" charset="0"/>
                <a:ea typeface="Calibri" pitchFamily="34" charset="-122"/>
                <a:cs typeface="Calibri" pitchFamily="34" charset="-120"/>
              </a:rPr>
              <a:t>asymmetric up to 2.2×</a:t>
            </a:r>
            <a:endParaRPr lang="en-US" sz="1250" dirty="0"/>
          </a:p>
          <a:p>
            <a:pPr marL="139700" indent="-139700">
              <a:buSzPct val="100000"/>
              <a:buChar char="•"/>
            </a:pPr>
            <a:r>
              <a:rPr lang="en-US" sz="1250" dirty="0">
                <a:solidFill>
                  <a:srgbClr val="B45309"/>
                </a:solidFill>
                <a:latin typeface="Calibri" pitchFamily="34" charset="0"/>
                <a:ea typeface="Calibri" pitchFamily="34" charset="-122"/>
                <a:cs typeface="Calibri" pitchFamily="34" charset="-120"/>
              </a:rPr>
              <a:t>the only measurable session drift</a:t>
            </a:r>
            <a:endParaRPr lang="en-US" sz="1250" dirty="0"/>
          </a:p>
        </p:txBody>
      </p:sp>
      <p:sp>
        <p:nvSpPr>
          <p:cNvPr id="20" name="Text 17"/>
          <p:cNvSpPr/>
          <p:nvPr/>
        </p:nvSpPr>
        <p:spPr>
          <a:xfrm>
            <a:off x="6995160" y="3840480"/>
            <a:ext cx="3246120" cy="822960"/>
          </a:xfrm>
          <a:prstGeom prst="rect">
            <a:avLst/>
          </a:prstGeom>
          <a:noFill/>
          <a:ln/>
        </p:spPr>
        <p:txBody>
          <a:bodyPr wrap="square" lIns="0" tIns="0" rIns="0" bIns="0" rtlCol="0" anchor="t"/>
          <a:lstStyle/>
          <a:p>
            <a:pPr marL="139700" indent="-139700">
              <a:spcAft>
                <a:spcPts val="300"/>
              </a:spcAft>
              <a:buSzPct val="100000"/>
              <a:buChar char="•"/>
            </a:pPr>
            <a:r>
              <a:rPr lang="en-US" sz="1250" dirty="0">
                <a:solidFill>
                  <a:srgbClr val="0F766E"/>
                </a:solidFill>
                <a:latin typeface="Calibri" pitchFamily="34" charset="0"/>
                <a:ea typeface="Calibri" pitchFamily="34" charset="-122"/>
                <a:cs typeface="Calibri" pitchFamily="34" charset="-120"/>
              </a:rPr>
              <a:t>FOPDT, region-dependent τ</a:t>
            </a:r>
            <a:endParaRPr lang="en-US" sz="1250" dirty="0"/>
          </a:p>
          <a:p>
            <a:pPr marL="139700" indent="-139700">
              <a:spcAft>
                <a:spcPts val="300"/>
              </a:spcAft>
              <a:buSzPct val="100000"/>
              <a:buChar char="•"/>
            </a:pPr>
            <a:r>
              <a:rPr lang="en-US" sz="1250" dirty="0">
                <a:solidFill>
                  <a:srgbClr val="0F766E"/>
                </a:solidFill>
                <a:latin typeface="Calibri" pitchFamily="34" charset="0"/>
                <a:ea typeface="Calibri" pitchFamily="34" charset="-122"/>
                <a:cs typeface="Calibri" pitchFamily="34" charset="-120"/>
              </a:rPr>
              <a:t>symmetric to within 9%</a:t>
            </a:r>
            <a:endParaRPr lang="en-US" sz="1250" dirty="0"/>
          </a:p>
          <a:p>
            <a:pPr marL="139700" indent="-139700">
              <a:buSzPct val="100000"/>
              <a:buChar char="•"/>
            </a:pPr>
            <a:r>
              <a:rPr lang="en-US" sz="1250" dirty="0">
                <a:solidFill>
                  <a:srgbClr val="0F766E"/>
                </a:solidFill>
                <a:latin typeface="Calibri" pitchFamily="34" charset="0"/>
                <a:ea typeface="Calibri" pitchFamily="34" charset="-122"/>
                <a:cs typeface="Calibri" pitchFamily="34" charset="-120"/>
              </a:rPr>
              <a:t>reproducible to ≈1%</a:t>
            </a:r>
            <a:endParaRPr lang="en-US" sz="1250" dirty="0"/>
          </a:p>
        </p:txBody>
      </p:sp>
      <p:sp>
        <p:nvSpPr>
          <p:cNvPr id="21" name="Shape 18"/>
          <p:cNvSpPr/>
          <p:nvPr/>
        </p:nvSpPr>
        <p:spPr>
          <a:xfrm>
            <a:off x="1965960" y="4754880"/>
            <a:ext cx="3383280" cy="475488"/>
          </a:xfrm>
          <a:prstGeom prst="roundRect">
            <a:avLst>
              <a:gd name="adj" fmla="val 23077"/>
            </a:avLst>
          </a:prstGeom>
          <a:solidFill>
            <a:srgbClr val="B45309"/>
          </a:solidFill>
          <a:ln/>
        </p:spPr>
      </p:sp>
      <p:sp>
        <p:nvSpPr>
          <p:cNvPr id="22" name="Text 19"/>
          <p:cNvSpPr/>
          <p:nvPr/>
        </p:nvSpPr>
        <p:spPr>
          <a:xfrm>
            <a:off x="2057400" y="4754880"/>
            <a:ext cx="32004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asymmetry + drift live HERE</a:t>
            </a:r>
            <a:endParaRPr lang="en-US" sz="1300" dirty="0"/>
          </a:p>
        </p:txBody>
      </p:sp>
      <p:sp>
        <p:nvSpPr>
          <p:cNvPr id="23" name="Shape 20"/>
          <p:cNvSpPr/>
          <p:nvPr/>
        </p:nvSpPr>
        <p:spPr>
          <a:xfrm>
            <a:off x="6903720" y="4754880"/>
            <a:ext cx="3383280" cy="475488"/>
          </a:xfrm>
          <a:prstGeom prst="roundRect">
            <a:avLst>
              <a:gd name="adj" fmla="val 23077"/>
            </a:avLst>
          </a:prstGeom>
          <a:solidFill>
            <a:srgbClr val="0F766E"/>
          </a:solidFill>
          <a:ln/>
        </p:spPr>
      </p:sp>
      <p:sp>
        <p:nvSpPr>
          <p:cNvPr id="24" name="Text 21"/>
          <p:cNvSpPr/>
          <p:nvPr/>
        </p:nvSpPr>
        <p:spPr>
          <a:xfrm>
            <a:off x="6995160" y="4754880"/>
            <a:ext cx="320040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clean &amp; reproducible</a:t>
            </a:r>
            <a:endParaRPr lang="en-US" sz="1300" dirty="0"/>
          </a:p>
        </p:txBody>
      </p:sp>
      <p:sp>
        <p:nvSpPr>
          <p:cNvPr id="25" name="Text 22"/>
          <p:cNvSpPr/>
          <p:nvPr/>
        </p:nvSpPr>
        <p:spPr>
          <a:xfrm>
            <a:off x="640080" y="5468112"/>
            <a:ext cx="10908792" cy="502920"/>
          </a:xfrm>
          <a:prstGeom prst="rect">
            <a:avLst/>
          </a:prstGeom>
          <a:noFill/>
          <a:ln/>
        </p:spPr>
        <p:txBody>
          <a:bodyPr wrap="square" lIns="0" tIns="0" rIns="0" bIns="0" rtlCol="0" anchor="ctr"/>
          <a:lstStyle/>
          <a:p>
            <a:pPr algn="l" indent="0" marL="0">
              <a:buNone/>
            </a:pPr>
            <a:r>
              <a:rPr lang="en-US" sz="1400" i="1" dirty="0">
                <a:solidFill>
                  <a:srgbClr val="1E293B"/>
                </a:solidFill>
                <a:latin typeface="Calibri" pitchFamily="34" charset="0"/>
                <a:ea typeface="Calibri" pitchFamily="34" charset="-122"/>
                <a:cs typeface="Calibri" pitchFamily="34" charset="-120"/>
              </a:rPr>
              <a:t>Asymmetry confined to one identifiable block is exactly what earns the cascade — this is contribution one.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B45309"/>
                </a:solidFill>
                <a:latin typeface="Trebuchet MS" pitchFamily="34" charset="0"/>
                <a:ea typeface="Trebuchet MS" pitchFamily="34" charset="-122"/>
                <a:cs typeface="Trebuchet MS" pitchFamily="34" charset="-120"/>
              </a:rPr>
              <a:t>THE QUESTION</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The question is structural: one black box, or a cascade of physical blocks?</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7" name="Text 4"/>
          <p:cNvSpPr/>
          <p:nvPr/>
        </p:nvSpPr>
        <p:spPr>
          <a:xfrm>
            <a:off x="640080" y="2011680"/>
            <a:ext cx="5212080" cy="365760"/>
          </a:xfrm>
          <a:prstGeom prst="rect">
            <a:avLst/>
          </a:prstGeom>
          <a:noFill/>
          <a:ln/>
        </p:spPr>
        <p:txBody>
          <a:bodyPr wrap="square" lIns="0" tIns="0" rIns="0" bIns="0" rtlCol="0" anchor="ctr"/>
          <a:lstStyle/>
          <a:p>
            <a:pPr indent="0" marL="0">
              <a:buNone/>
            </a:pPr>
            <a:r>
              <a:rPr lang="en-US" sz="1450" b="1" dirty="0">
                <a:solidFill>
                  <a:srgbClr val="0F2440"/>
                </a:solidFill>
                <a:latin typeface="Trebuchet MS" pitchFamily="34" charset="0"/>
                <a:ea typeface="Trebuchet MS" pitchFamily="34" charset="-122"/>
                <a:cs typeface="Trebuchet MS" pitchFamily="34" charset="-120"/>
              </a:rPr>
              <a:t>Five departures from the textbook ideal</a:t>
            </a:r>
            <a:endParaRPr lang="en-US" sz="1450" dirty="0"/>
          </a:p>
        </p:txBody>
      </p:sp>
      <p:sp>
        <p:nvSpPr>
          <p:cNvPr id="8" name="Text 5"/>
          <p:cNvSpPr/>
          <p:nvPr/>
        </p:nvSpPr>
        <p:spPr>
          <a:xfrm>
            <a:off x="640080" y="2468880"/>
            <a:ext cx="5120640" cy="2377440"/>
          </a:xfrm>
          <a:prstGeom prst="rect">
            <a:avLst/>
          </a:prstGeom>
          <a:noFill/>
          <a:ln/>
        </p:spPr>
        <p:txBody>
          <a:bodyPr wrap="square" lIns="0" tIns="0" rIns="0" bIns="0" rtlCol="0" anchor="t"/>
          <a:lstStyle/>
          <a:p>
            <a:pPr marL="152400" indent="-1524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Driver voltage loss — droops below supply</a:t>
            </a:r>
            <a:endParaRPr lang="en-US" sz="1350" dirty="0"/>
          </a:p>
          <a:p>
            <a:pPr marL="152400" indent="-1524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Hysteretic deadzone with fwd/rev breakaway asymmetry</a:t>
            </a:r>
            <a:endParaRPr lang="en-US" sz="1350" dirty="0"/>
          </a:p>
          <a:p>
            <a:pPr marL="152400" indent="-1524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Forward/reverse gain mismatch</a:t>
            </a:r>
            <a:endParaRPr lang="en-US" sz="1350" dirty="0"/>
          </a:p>
          <a:p>
            <a:pPr marL="152400" indent="-152400">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Operating-point-dependent dynamics</a:t>
            </a:r>
            <a:endParaRPr lang="en-US" sz="1350" dirty="0"/>
          </a:p>
          <a:p>
            <a:pPr marL="152400" indent="-152400">
              <a:buSzPct val="100000"/>
              <a:buChar char="•"/>
            </a:pPr>
            <a:r>
              <a:rPr lang="en-US" sz="1350" dirty="0">
                <a:solidFill>
                  <a:srgbClr val="1E293B"/>
                </a:solidFill>
                <a:latin typeface="Calibri" pitchFamily="34" charset="0"/>
                <a:ea typeface="Calibri" pitchFamily="34" charset="-122"/>
                <a:cs typeface="Calibri" pitchFamily="34" charset="-120"/>
              </a:rPr>
              <a:t>A small command-to-response delay</a:t>
            </a:r>
            <a:endParaRPr lang="en-US" sz="1350" dirty="0"/>
          </a:p>
        </p:txBody>
      </p:sp>
      <p:sp>
        <p:nvSpPr>
          <p:cNvPr id="9" name="Shape 6"/>
          <p:cNvSpPr/>
          <p:nvPr/>
        </p:nvSpPr>
        <p:spPr>
          <a:xfrm>
            <a:off x="640080" y="5074920"/>
            <a:ext cx="4572000" cy="457200"/>
          </a:xfrm>
          <a:prstGeom prst="roundRect">
            <a:avLst>
              <a:gd name="adj" fmla="val 24000"/>
            </a:avLst>
          </a:prstGeom>
          <a:solidFill>
            <a:srgbClr val="B45309"/>
          </a:solidFill>
          <a:ln/>
        </p:spPr>
      </p:sp>
      <p:sp>
        <p:nvSpPr>
          <p:cNvPr id="10" name="Text 7"/>
          <p:cNvSpPr/>
          <p:nvPr/>
        </p:nvSpPr>
        <p:spPr>
          <a:xfrm>
            <a:off x="731520" y="5074920"/>
            <a:ext cx="43891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The data picks the rung — not assumed</a:t>
            </a:r>
            <a:endParaRPr lang="en-US" sz="1300" dirty="0"/>
          </a:p>
        </p:txBody>
      </p:sp>
      <p:sp>
        <p:nvSpPr>
          <p:cNvPr id="11" name="Text 8"/>
          <p:cNvSpPr/>
          <p:nvPr/>
        </p:nvSpPr>
        <p:spPr>
          <a:xfrm>
            <a:off x="6217920" y="2011680"/>
            <a:ext cx="5330952" cy="365760"/>
          </a:xfrm>
          <a:prstGeom prst="rect">
            <a:avLst/>
          </a:prstGeom>
          <a:noFill/>
          <a:ln/>
        </p:spPr>
        <p:txBody>
          <a:bodyPr wrap="square" lIns="0" tIns="0" rIns="0" bIns="0" rtlCol="0" anchor="ctr"/>
          <a:lstStyle/>
          <a:p>
            <a:pPr indent="0" marL="0">
              <a:buNone/>
            </a:pPr>
            <a:r>
              <a:rPr lang="en-US" sz="1450" b="1" dirty="0">
                <a:solidFill>
                  <a:srgbClr val="0F2440"/>
                </a:solidFill>
                <a:latin typeface="Trebuchet MS" pitchFamily="34" charset="0"/>
                <a:ea typeface="Trebuchet MS" pitchFamily="34" charset="-122"/>
                <a:cs typeface="Trebuchet MS" pitchFamily="34" charset="-120"/>
              </a:rPr>
              <a:t>A ladder of three models, fixed at the outset</a:t>
            </a:r>
            <a:endParaRPr lang="en-US" sz="1450" dirty="0"/>
          </a:p>
        </p:txBody>
      </p:sp>
      <p:sp>
        <p:nvSpPr>
          <p:cNvPr id="12" name="Shape 9"/>
          <p:cNvSpPr/>
          <p:nvPr/>
        </p:nvSpPr>
        <p:spPr>
          <a:xfrm>
            <a:off x="6217920" y="2450592"/>
            <a:ext cx="5330952" cy="822960"/>
          </a:xfrm>
          <a:prstGeom prst="roundRect">
            <a:avLst>
              <a:gd name="adj" fmla="val 777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3" name="Text 10"/>
          <p:cNvSpPr/>
          <p:nvPr/>
        </p:nvSpPr>
        <p:spPr>
          <a:xfrm>
            <a:off x="6400800" y="2523744"/>
            <a:ext cx="4983480" cy="676656"/>
          </a:xfrm>
          <a:prstGeom prst="rect">
            <a:avLst/>
          </a:prstGeom>
          <a:noFill/>
          <a:ln/>
        </p:spPr>
        <p:txBody>
          <a:bodyPr wrap="square" lIns="0" tIns="0" rIns="0" bIns="0" rtlCol="0" anchor="ctr"/>
          <a:lstStyle/>
          <a:p>
            <a:pPr indent="0" marL="0">
              <a:buNone/>
            </a:pPr>
            <a:r>
              <a:rPr lang="en-US" sz="1400" b="1" dirty="0">
                <a:solidFill>
                  <a:srgbClr val="0F2440"/>
                </a:solidFill>
                <a:latin typeface="Calibri" pitchFamily="34" charset="0"/>
                <a:ea typeface="Calibri" pitchFamily="34" charset="-122"/>
                <a:cs typeface="Calibri" pitchFamily="34" charset="-120"/>
              </a:rPr>
              <a:t>Model A  </a:t>
            </a:r>
            <a:pPr indent="0" marL="0">
              <a:buNone/>
            </a:pPr>
            <a:r>
              <a:rPr lang="en-US" sz="1250" dirty="0">
                <a:solidFill>
                  <a:srgbClr val="1E293B"/>
                </a:solidFill>
                <a:latin typeface="Calibri" pitchFamily="34" charset="0"/>
                <a:ea typeface="Calibri" pitchFamily="34" charset="-122"/>
                <a:cs typeface="Calibri" pitchFamily="34" charset="-120"/>
              </a:rPr>
              <a:t>single global LTI, no static block — the straw-man baseline</a:t>
            </a:r>
            <a:endParaRPr lang="en-US" sz="1400" dirty="0"/>
          </a:p>
        </p:txBody>
      </p:sp>
      <p:sp>
        <p:nvSpPr>
          <p:cNvPr id="14" name="Shape 11"/>
          <p:cNvSpPr/>
          <p:nvPr/>
        </p:nvSpPr>
        <p:spPr>
          <a:xfrm>
            <a:off x="6217920" y="3364992"/>
            <a:ext cx="5330952" cy="822960"/>
          </a:xfrm>
          <a:prstGeom prst="roundRect">
            <a:avLst>
              <a:gd name="adj" fmla="val 777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5" name="Text 12"/>
          <p:cNvSpPr/>
          <p:nvPr/>
        </p:nvSpPr>
        <p:spPr>
          <a:xfrm>
            <a:off x="6400800" y="3438144"/>
            <a:ext cx="4983480" cy="676656"/>
          </a:xfrm>
          <a:prstGeom prst="rect">
            <a:avLst/>
          </a:prstGeom>
          <a:noFill/>
          <a:ln/>
        </p:spPr>
        <p:txBody>
          <a:bodyPr wrap="square" lIns="0" tIns="0" rIns="0" bIns="0" rtlCol="0" anchor="ctr"/>
          <a:lstStyle/>
          <a:p>
            <a:pPr indent="0" marL="0">
              <a:buNone/>
            </a:pPr>
            <a:r>
              <a:rPr lang="en-US" sz="1400" b="1" dirty="0">
                <a:solidFill>
                  <a:srgbClr val="0F2440"/>
                </a:solidFill>
                <a:latin typeface="Calibri" pitchFamily="34" charset="0"/>
                <a:ea typeface="Calibri" pitchFamily="34" charset="-122"/>
                <a:cs typeface="Calibri" pitchFamily="34" charset="-120"/>
              </a:rPr>
              <a:t>Model B  </a:t>
            </a:r>
            <a:pPr indent="0" marL="0">
              <a:buNone/>
            </a:pPr>
            <a:r>
              <a:rPr lang="en-US" sz="1250" dirty="0">
                <a:solidFill>
                  <a:srgbClr val="1E293B"/>
                </a:solidFill>
                <a:latin typeface="Calibri" pitchFamily="34" charset="0"/>
                <a:ea typeface="Calibri" pitchFamily="34" charset="-122"/>
                <a:cs typeface="Calibri" pitchFamily="34" charset="-120"/>
              </a:rPr>
              <a:t>static block + one global time constant</a:t>
            </a:r>
            <a:endParaRPr lang="en-US" sz="1400" dirty="0"/>
          </a:p>
        </p:txBody>
      </p:sp>
      <p:sp>
        <p:nvSpPr>
          <p:cNvPr id="16" name="Shape 13"/>
          <p:cNvSpPr/>
          <p:nvPr/>
        </p:nvSpPr>
        <p:spPr>
          <a:xfrm>
            <a:off x="6217920" y="4279392"/>
            <a:ext cx="5330952" cy="1207008"/>
          </a:xfrm>
          <a:prstGeom prst="roundRect">
            <a:avLst>
              <a:gd name="adj" fmla="val 5303"/>
            </a:avLst>
          </a:prstGeom>
          <a:solidFill>
            <a:srgbClr val="D6F0EC"/>
          </a:solidFill>
          <a:ln w="12700">
            <a:solidFill>
              <a:srgbClr val="0F766E"/>
            </a:solidFill>
            <a:prstDash val="solid"/>
          </a:ln>
          <a:effectLst>
            <a:outerShdw sx="100000" sy="100000" kx="0" ky="0" algn="bl" rotWithShape="0" blurRad="88900" dist="38100" dir="8100000">
              <a:srgbClr val="0F2440">
                <a:alpha val="12000"/>
              </a:srgbClr>
            </a:outerShdw>
          </a:effectLst>
        </p:spPr>
      </p:sp>
      <p:sp>
        <p:nvSpPr>
          <p:cNvPr id="17" name="Text 14"/>
          <p:cNvSpPr/>
          <p:nvPr/>
        </p:nvSpPr>
        <p:spPr>
          <a:xfrm>
            <a:off x="6400800" y="4352544"/>
            <a:ext cx="4983480" cy="1060704"/>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Model C  ✓  </a:t>
            </a:r>
            <a:pPr indent="0" marL="0">
              <a:buNone/>
            </a:pPr>
            <a:r>
              <a:rPr lang="en-US" sz="1250" dirty="0">
                <a:solidFill>
                  <a:srgbClr val="1E293B"/>
                </a:solidFill>
                <a:latin typeface="Calibri" pitchFamily="34" charset="0"/>
                <a:ea typeface="Calibri" pitchFamily="34" charset="-122"/>
                <a:cs typeface="Calibri" pitchFamily="34" charset="-120"/>
              </a:rPr>
              <a:t>static block + region- &amp; operating-point-dependent FOPDT — the winner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475569"/>
                </a:solidFill>
                <a:latin typeface="Trebuchet MS" pitchFamily="34" charset="0"/>
                <a:ea typeface="Trebuchet MS" pitchFamily="34" charset="-122"/>
                <a:cs typeface="Trebuchet MS" pitchFamily="34" charset="-120"/>
              </a:rPr>
              <a:t>METHOD</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Steady-state sweeps isolate the driver; step responses isolate the motor.</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2057400"/>
            <a:ext cx="5212080" cy="3703320"/>
          </a:xfrm>
          <a:prstGeom prst="roundRect">
            <a:avLst>
              <a:gd name="adj" fmla="val 172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841248" y="2203704"/>
            <a:ext cx="4809744" cy="365760"/>
          </a:xfrm>
          <a:prstGeom prst="rect">
            <a:avLst/>
          </a:prstGeom>
          <a:noFill/>
          <a:ln/>
        </p:spPr>
        <p:txBody>
          <a:bodyPr wrap="square" lIns="0" tIns="0" rIns="0" bIns="0" rtlCol="0" anchor="ctr"/>
          <a:lstStyle/>
          <a:p>
            <a:pPr algn="l" indent="0" marL="0">
              <a:buNone/>
            </a:pPr>
            <a:r>
              <a:rPr lang="en-US" sz="1350" b="1" dirty="0">
                <a:solidFill>
                  <a:srgbClr val="0F2440"/>
                </a:solidFill>
                <a:latin typeface="Trebuchet MS" pitchFamily="34" charset="0"/>
                <a:ea typeface="Trebuchet MS" pitchFamily="34" charset="-122"/>
                <a:cs typeface="Trebuchet MS" pitchFamily="34" charset="-120"/>
              </a:rPr>
              <a:t>The rig</a:t>
            </a:r>
            <a:endParaRPr lang="en-US" sz="1350" dirty="0"/>
          </a:p>
        </p:txBody>
      </p:sp>
      <p:sp>
        <p:nvSpPr>
          <p:cNvPr id="9" name="Text 6"/>
          <p:cNvSpPr/>
          <p:nvPr/>
        </p:nvSpPr>
        <p:spPr>
          <a:xfrm>
            <a:off x="859536" y="2624328"/>
            <a:ext cx="4773168" cy="3008376"/>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12 V, 60:1 geared DC motor</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L298N H-bridge (single channel)</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600-PPR quadrature encoder</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Arduino Uno R4 Minima</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Measurement: PWM steps in → encoder RPM out</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20 operating points across the envelope</a:t>
            </a:r>
            <a:endParaRPr lang="en-US" sz="1350" dirty="0"/>
          </a:p>
        </p:txBody>
      </p:sp>
      <p:sp>
        <p:nvSpPr>
          <p:cNvPr id="10" name="Shape 7"/>
          <p:cNvSpPr/>
          <p:nvPr/>
        </p:nvSpPr>
        <p:spPr>
          <a:xfrm>
            <a:off x="6217920" y="2057400"/>
            <a:ext cx="5330952" cy="3703320"/>
          </a:xfrm>
          <a:prstGeom prst="roundRect">
            <a:avLst>
              <a:gd name="adj" fmla="val 172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8"/>
          <p:cNvSpPr/>
          <p:nvPr/>
        </p:nvSpPr>
        <p:spPr>
          <a:xfrm>
            <a:off x="6419088" y="2203704"/>
            <a:ext cx="4928616" cy="365760"/>
          </a:xfrm>
          <a:prstGeom prst="rect">
            <a:avLst/>
          </a:prstGeom>
          <a:noFill/>
          <a:ln/>
        </p:spPr>
        <p:txBody>
          <a:bodyPr wrap="square" lIns="0" tIns="0" rIns="0" bIns="0" rtlCol="0" anchor="ctr"/>
          <a:lstStyle/>
          <a:p>
            <a:pPr algn="l" indent="0" marL="0">
              <a:buNone/>
            </a:pPr>
            <a:r>
              <a:rPr lang="en-US" sz="1350" b="1" dirty="0">
                <a:solidFill>
                  <a:srgbClr val="0F2440"/>
                </a:solidFill>
                <a:latin typeface="Trebuchet MS" pitchFamily="34" charset="0"/>
                <a:ea typeface="Trebuchet MS" pitchFamily="34" charset="-122"/>
                <a:cs typeface="Trebuchet MS" pitchFamily="34" charset="-120"/>
              </a:rPr>
              <a:t>How the two blocks separate</a:t>
            </a:r>
            <a:endParaRPr lang="en-US" sz="1350" dirty="0"/>
          </a:p>
        </p:txBody>
      </p:sp>
      <p:sp>
        <p:nvSpPr>
          <p:cNvPr id="12" name="Text 9"/>
          <p:cNvSpPr/>
          <p:nvPr/>
        </p:nvSpPr>
        <p:spPr>
          <a:xfrm>
            <a:off x="6437376" y="2624328"/>
            <a:ext cx="4892040" cy="3008376"/>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Static sweeps (motor allowed to settle)  →  isolate the DRIVER block  [ PWM → voltage ]</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Step responses (the transients)  →  isolate the MOTOR block  [ voltage → speed ]</a:t>
            </a:r>
            <a:endParaRPr lang="en-US" sz="1350" dirty="0"/>
          </a:p>
        </p:txBody>
      </p:sp>
      <p:sp>
        <p:nvSpPr>
          <p:cNvPr id="13" name="Shape 10"/>
          <p:cNvSpPr/>
          <p:nvPr/>
        </p:nvSpPr>
        <p:spPr>
          <a:xfrm>
            <a:off x="6217920" y="5138928"/>
            <a:ext cx="5330952" cy="502920"/>
          </a:xfrm>
          <a:prstGeom prst="roundRect">
            <a:avLst>
              <a:gd name="adj" fmla="val 21818"/>
            </a:avLst>
          </a:prstGeom>
          <a:solidFill>
            <a:srgbClr val="0F766E"/>
          </a:solidFill>
          <a:ln/>
        </p:spPr>
      </p:sp>
      <p:sp>
        <p:nvSpPr>
          <p:cNvPr id="14" name="Text 11"/>
          <p:cNvSpPr/>
          <p:nvPr/>
        </p:nvSpPr>
        <p:spPr>
          <a:xfrm>
            <a:off x="6309360" y="5138928"/>
            <a:ext cx="514807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Each test fixes a different block → every behaviour attributes to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B45309"/>
                </a:solidFill>
                <a:latin typeface="Trebuchet MS" pitchFamily="34" charset="0"/>
                <a:ea typeface="Trebuchet MS" pitchFamily="34" charset="-122"/>
                <a:cs typeface="Trebuchet MS" pitchFamily="34" charset="-120"/>
              </a:rPr>
              <a:t>OPEN-LOOP EVIDENCE · 1 OF 3</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The driver's PWM→voltage map is asymmetric up to 2.2× — with a hysteretic deadzone.</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2103120"/>
            <a:ext cx="2487168" cy="1554480"/>
          </a:xfrm>
          <a:prstGeom prst="roundRect">
            <a:avLst>
              <a:gd name="adj" fmla="val 411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713232" y="2212848"/>
            <a:ext cx="2340864" cy="854964"/>
          </a:xfrm>
          <a:prstGeom prst="rect">
            <a:avLst/>
          </a:prstGeom>
          <a:noFill/>
          <a:ln/>
        </p:spPr>
        <p:txBody>
          <a:bodyPr wrap="square" lIns="0" tIns="0" rIns="0" bIns="0" rtlCol="0" anchor="ctr"/>
          <a:lstStyle/>
          <a:p>
            <a:pPr algn="ctr" indent="0" marL="0">
              <a:buNone/>
            </a:pPr>
            <a:r>
              <a:rPr lang="en-US" sz="3800" b="1" dirty="0">
                <a:solidFill>
                  <a:srgbClr val="B45309"/>
                </a:solidFill>
                <a:latin typeface="Trebuchet MS" pitchFamily="34" charset="0"/>
                <a:ea typeface="Trebuchet MS" pitchFamily="34" charset="-122"/>
                <a:cs typeface="Trebuchet MS" pitchFamily="34" charset="-120"/>
              </a:rPr>
              <a:t>≤ 2.2×</a:t>
            </a:r>
            <a:endParaRPr lang="en-US" sz="3800" dirty="0"/>
          </a:p>
        </p:txBody>
      </p:sp>
      <p:sp>
        <p:nvSpPr>
          <p:cNvPr id="9" name="Text 6"/>
          <p:cNvSpPr/>
          <p:nvPr/>
        </p:nvSpPr>
        <p:spPr>
          <a:xfrm>
            <a:off x="768096" y="3035808"/>
            <a:ext cx="2231136" cy="559613"/>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directional asymmetry near the deadzone edge</a:t>
            </a:r>
            <a:endParaRPr lang="en-US" sz="1150" dirty="0"/>
          </a:p>
        </p:txBody>
      </p:sp>
      <p:sp>
        <p:nvSpPr>
          <p:cNvPr id="10" name="Shape 7"/>
          <p:cNvSpPr/>
          <p:nvPr/>
        </p:nvSpPr>
        <p:spPr>
          <a:xfrm>
            <a:off x="3291840" y="2103120"/>
            <a:ext cx="2487168" cy="1554480"/>
          </a:xfrm>
          <a:prstGeom prst="roundRect">
            <a:avLst>
              <a:gd name="adj" fmla="val 411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8"/>
          <p:cNvSpPr/>
          <p:nvPr/>
        </p:nvSpPr>
        <p:spPr>
          <a:xfrm>
            <a:off x="3364992" y="2212848"/>
            <a:ext cx="2340864" cy="854964"/>
          </a:xfrm>
          <a:prstGeom prst="rect">
            <a:avLst/>
          </a:prstGeom>
          <a:noFill/>
          <a:ln/>
        </p:spPr>
        <p:txBody>
          <a:bodyPr wrap="square" lIns="0" tIns="0" rIns="0" bIns="0" rtlCol="0" anchor="ctr"/>
          <a:lstStyle/>
          <a:p>
            <a:pPr algn="ctr" indent="0" marL="0">
              <a:buNone/>
            </a:pPr>
            <a:r>
              <a:rPr lang="en-US" sz="3800" b="1" dirty="0">
                <a:solidFill>
                  <a:srgbClr val="B45309"/>
                </a:solidFill>
                <a:latin typeface="Trebuchet MS" pitchFamily="34" charset="0"/>
                <a:ea typeface="Trebuchet MS" pitchFamily="34" charset="-122"/>
                <a:cs typeface="Trebuchet MS" pitchFamily="34" charset="-120"/>
              </a:rPr>
              <a:t>22–27%</a:t>
            </a:r>
            <a:endParaRPr lang="en-US" sz="3800" dirty="0"/>
          </a:p>
        </p:txBody>
      </p:sp>
      <p:sp>
        <p:nvSpPr>
          <p:cNvPr id="12" name="Text 9"/>
          <p:cNvSpPr/>
          <p:nvPr/>
        </p:nvSpPr>
        <p:spPr>
          <a:xfrm>
            <a:off x="3419856" y="3035808"/>
            <a:ext cx="2231136" cy="559613"/>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voltage droop below supply at full duty</a:t>
            </a:r>
            <a:endParaRPr lang="en-US" sz="1150" dirty="0"/>
          </a:p>
        </p:txBody>
      </p:sp>
      <p:sp>
        <p:nvSpPr>
          <p:cNvPr id="13" name="Shape 10"/>
          <p:cNvSpPr/>
          <p:nvPr/>
        </p:nvSpPr>
        <p:spPr>
          <a:xfrm>
            <a:off x="640080" y="3840480"/>
            <a:ext cx="5138928" cy="1828800"/>
          </a:xfrm>
          <a:prstGeom prst="roundRect">
            <a:avLst>
              <a:gd name="adj" fmla="val 3500"/>
            </a:avLst>
          </a:prstGeom>
          <a:solidFill>
            <a:srgbClr val="FBE8D3"/>
          </a:solidFill>
          <a:ln w="12700">
            <a:solidFill>
              <a:srgbClr val="E8C49B"/>
            </a:solidFill>
            <a:prstDash val="solid"/>
          </a:ln>
          <a:effectLst>
            <a:outerShdw sx="100000" sy="100000" kx="0" ky="0" algn="bl" rotWithShape="0" blurRad="88900" dist="38100" dir="8100000">
              <a:srgbClr val="0F2440">
                <a:alpha val="12000"/>
              </a:srgbClr>
            </a:outerShdw>
          </a:effectLst>
        </p:spPr>
      </p:sp>
      <p:sp>
        <p:nvSpPr>
          <p:cNvPr id="14" name="Text 11"/>
          <p:cNvSpPr/>
          <p:nvPr/>
        </p:nvSpPr>
        <p:spPr>
          <a:xfrm>
            <a:off x="841248" y="3986784"/>
            <a:ext cx="4736592" cy="365760"/>
          </a:xfrm>
          <a:prstGeom prst="rect">
            <a:avLst/>
          </a:prstGeom>
          <a:noFill/>
          <a:ln/>
        </p:spPr>
        <p:txBody>
          <a:bodyPr wrap="square" lIns="0" tIns="0" rIns="0" bIns="0" rtlCol="0" anchor="ctr"/>
          <a:lstStyle/>
          <a:p>
            <a:pPr algn="l" indent="0" marL="0">
              <a:buNone/>
            </a:pPr>
            <a:r>
              <a:rPr lang="en-US" sz="1350" b="1" dirty="0">
                <a:solidFill>
                  <a:srgbClr val="B45309"/>
                </a:solidFill>
                <a:latin typeface="Trebuchet MS" pitchFamily="34" charset="0"/>
                <a:ea typeface="Trebuchet MS" pitchFamily="34" charset="-122"/>
                <a:cs typeface="Trebuchet MS" pitchFamily="34" charset="-120"/>
              </a:rPr>
              <a:t>Hysteretic deadzone  (forward / reverse)</a:t>
            </a:r>
            <a:endParaRPr lang="en-US" sz="1350" dirty="0"/>
          </a:p>
        </p:txBody>
      </p:sp>
      <p:sp>
        <p:nvSpPr>
          <p:cNvPr id="15" name="Text 12"/>
          <p:cNvSpPr/>
          <p:nvPr/>
        </p:nvSpPr>
        <p:spPr>
          <a:xfrm>
            <a:off x="859536" y="4407408"/>
            <a:ext cx="4700016" cy="1133856"/>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Breakaway:  154 / 144  PWM</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Dropout:  114 / 112  PWM</a:t>
            </a:r>
            <a:endParaRPr lang="en-US" sz="1350" dirty="0"/>
          </a:p>
          <a:p>
            <a:pPr marL="152400" indent="-152400">
              <a:spcAft>
                <a:spcPts val="600"/>
              </a:spcAft>
              <a:buSzPct val="100000"/>
              <a:buChar char="•"/>
            </a:pPr>
            <a:r>
              <a:rPr lang="en-US" sz="1350" dirty="0">
                <a:solidFill>
                  <a:srgbClr val="1E293B"/>
                </a:solidFill>
                <a:latin typeface="Calibri" pitchFamily="34" charset="0"/>
                <a:ea typeface="Calibri" pitchFamily="34" charset="-122"/>
                <a:cs typeface="Calibri" pitchFamily="34" charset="-120"/>
              </a:rPr>
              <a:t>Different thresholds for starting vs stopping → genuine hysteresis</a:t>
            </a:r>
            <a:endParaRPr lang="en-US" sz="1350" dirty="0"/>
          </a:p>
        </p:txBody>
      </p:sp>
      <p:sp>
        <p:nvSpPr>
          <p:cNvPr id="16" name="Shape 13"/>
          <p:cNvSpPr/>
          <p:nvPr/>
        </p:nvSpPr>
        <p:spPr>
          <a:xfrm>
            <a:off x="6204204" y="2075688"/>
            <a:ext cx="5266944" cy="3346704"/>
          </a:xfrm>
          <a:prstGeom prst="roundRect">
            <a:avLst>
              <a:gd name="adj" fmla="val 1093"/>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17" name="Image 0" descr="/Users/piyush/code/System_Identification_DC_Motor/figures/04_asymmetry_ratio.png">    </p:cNvPr>
          <p:cNvPicPr>
            <a:picLocks noChangeAspect="1"/>
          </p:cNvPicPr>
          <p:nvPr/>
        </p:nvPicPr>
        <p:blipFill>
          <a:blip r:embed="rId1"/>
          <a:stretch>
            <a:fillRect/>
          </a:stretch>
        </p:blipFill>
        <p:spPr>
          <a:xfrm>
            <a:off x="6277356" y="2148840"/>
            <a:ext cx="5120640" cy="3200400"/>
          </a:xfrm>
          <a:prstGeom prst="rect">
            <a:avLst/>
          </a:prstGeom>
        </p:spPr>
      </p:pic>
      <p:sp>
        <p:nvSpPr>
          <p:cNvPr id="18" name="Text 14"/>
          <p:cNvSpPr/>
          <p:nvPr/>
        </p:nvSpPr>
        <p:spPr>
          <a:xfrm>
            <a:off x="6126480" y="5413248"/>
            <a:ext cx="5422392"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Voltage-ratio (purple) peaks at 2.2× near the deadzone; the RPM-ratio (green) stays far lower — the asymmetry is in the driver, not the motor.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0F766E"/>
                </a:solidFill>
                <a:latin typeface="Trebuchet MS" pitchFamily="34" charset="0"/>
                <a:ea typeface="Trebuchet MS" pitchFamily="34" charset="-122"/>
                <a:cs typeface="Trebuchet MS" pitchFamily="34" charset="-120"/>
              </a:rPr>
              <a:t>OPEN-LOOP EVIDENCE · 2 OF 3</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The motor block is symmetric to within 9% — the asymmetry is NOT in the motor.</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2148840"/>
            <a:ext cx="3246120" cy="1600200"/>
          </a:xfrm>
          <a:prstGeom prst="roundRect">
            <a:avLst>
              <a:gd name="adj" fmla="val 4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713232" y="2258568"/>
            <a:ext cx="3099816" cy="880110"/>
          </a:xfrm>
          <a:prstGeom prst="rect">
            <a:avLst/>
          </a:prstGeom>
          <a:noFill/>
          <a:ln/>
        </p:spPr>
        <p:txBody>
          <a:bodyPr wrap="square" lIns="0" tIns="0" rIns="0" bIns="0" rtlCol="0" anchor="ctr"/>
          <a:lstStyle/>
          <a:p>
            <a:pPr algn="ctr" indent="0" marL="0">
              <a:buNone/>
            </a:pPr>
            <a:r>
              <a:rPr lang="en-US" sz="3800" b="1" dirty="0">
                <a:solidFill>
                  <a:srgbClr val="0F766E"/>
                </a:solidFill>
                <a:latin typeface="Trebuchet MS" pitchFamily="34" charset="0"/>
                <a:ea typeface="Trebuchet MS" pitchFamily="34" charset="-122"/>
                <a:cs typeface="Trebuchet MS" pitchFamily="34" charset="-120"/>
              </a:rPr>
              <a:t>26.94</a:t>
            </a:r>
            <a:endParaRPr lang="en-US" sz="3800" dirty="0"/>
          </a:p>
        </p:txBody>
      </p:sp>
      <p:sp>
        <p:nvSpPr>
          <p:cNvPr id="9" name="Text 6"/>
          <p:cNvSpPr/>
          <p:nvPr/>
        </p:nvSpPr>
        <p:spPr>
          <a:xfrm>
            <a:off x="768096" y="3108960"/>
            <a:ext cx="2990088" cy="576072"/>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K</a:t>
            </a:r>
            <a:pPr algn="ctr" indent="0" marL="0">
              <a:buNone/>
            </a:pPr>
            <a:r>
              <a:rPr lang="en-US" sz="1150" baseline="-40000" dirty="0">
                <a:solidFill>
                  <a:srgbClr val="475569"/>
                </a:solidFill>
                <a:latin typeface="Calibri" pitchFamily="34" charset="0"/>
                <a:ea typeface="Calibri" pitchFamily="34" charset="-122"/>
                <a:cs typeface="Calibri" pitchFamily="34" charset="-120"/>
              </a:rPr>
              <a:t>fwd</a:t>
            </a:r>
            <a:pPr algn="ctr" indent="0" marL="0">
              <a:buNone/>
            </a:pPr>
            <a:r>
              <a:rPr lang="en-US" sz="1150" dirty="0">
                <a:solidFill>
                  <a:srgbClr val="475569"/>
                </a:solidFill>
                <a:latin typeface="Calibri" pitchFamily="34" charset="0"/>
                <a:ea typeface="Calibri" pitchFamily="34" charset="-122"/>
                <a:cs typeface="Calibri" pitchFamily="34" charset="-120"/>
              </a:rPr>
              <a:t>  (rpm / V)</a:t>
            </a:r>
            <a:endParaRPr lang="en-US" sz="1150" dirty="0"/>
          </a:p>
        </p:txBody>
      </p:sp>
      <p:sp>
        <p:nvSpPr>
          <p:cNvPr id="10" name="Shape 7"/>
          <p:cNvSpPr/>
          <p:nvPr/>
        </p:nvSpPr>
        <p:spPr>
          <a:xfrm>
            <a:off x="4069080" y="2148840"/>
            <a:ext cx="3246120" cy="1600200"/>
          </a:xfrm>
          <a:prstGeom prst="roundRect">
            <a:avLst>
              <a:gd name="adj" fmla="val 4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8"/>
          <p:cNvSpPr/>
          <p:nvPr/>
        </p:nvSpPr>
        <p:spPr>
          <a:xfrm>
            <a:off x="4142232" y="2258568"/>
            <a:ext cx="3099816" cy="880110"/>
          </a:xfrm>
          <a:prstGeom prst="rect">
            <a:avLst/>
          </a:prstGeom>
          <a:noFill/>
          <a:ln/>
        </p:spPr>
        <p:txBody>
          <a:bodyPr wrap="square" lIns="0" tIns="0" rIns="0" bIns="0" rtlCol="0" anchor="ctr"/>
          <a:lstStyle/>
          <a:p>
            <a:pPr algn="ctr" indent="0" marL="0">
              <a:buNone/>
            </a:pPr>
            <a:r>
              <a:rPr lang="en-US" sz="3800" b="1" dirty="0">
                <a:solidFill>
                  <a:srgbClr val="0F766E"/>
                </a:solidFill>
                <a:latin typeface="Trebuchet MS" pitchFamily="34" charset="0"/>
                <a:ea typeface="Trebuchet MS" pitchFamily="34" charset="-122"/>
                <a:cs typeface="Trebuchet MS" pitchFamily="34" charset="-120"/>
              </a:rPr>
              <a:t>24.52</a:t>
            </a:r>
            <a:endParaRPr lang="en-US" sz="3800" dirty="0"/>
          </a:p>
        </p:txBody>
      </p:sp>
      <p:sp>
        <p:nvSpPr>
          <p:cNvPr id="12" name="Text 9"/>
          <p:cNvSpPr/>
          <p:nvPr/>
        </p:nvSpPr>
        <p:spPr>
          <a:xfrm>
            <a:off x="4197096" y="3108960"/>
            <a:ext cx="2990088" cy="576072"/>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K</a:t>
            </a:r>
            <a:pPr algn="ctr" indent="0" marL="0">
              <a:buNone/>
            </a:pPr>
            <a:r>
              <a:rPr lang="en-US" sz="1150" baseline="-40000" dirty="0">
                <a:solidFill>
                  <a:srgbClr val="475569"/>
                </a:solidFill>
                <a:latin typeface="Calibri" pitchFamily="34" charset="0"/>
                <a:ea typeface="Calibri" pitchFamily="34" charset="-122"/>
                <a:cs typeface="Calibri" pitchFamily="34" charset="-120"/>
              </a:rPr>
              <a:t>rev</a:t>
            </a:r>
            <a:pPr algn="ctr" indent="0" marL="0">
              <a:buNone/>
            </a:pPr>
            <a:r>
              <a:rPr lang="en-US" sz="1150" dirty="0">
                <a:solidFill>
                  <a:srgbClr val="475569"/>
                </a:solidFill>
                <a:latin typeface="Calibri" pitchFamily="34" charset="0"/>
                <a:ea typeface="Calibri" pitchFamily="34" charset="-122"/>
                <a:cs typeface="Calibri" pitchFamily="34" charset="-120"/>
              </a:rPr>
              <a:t>  (rpm / V)</a:t>
            </a:r>
            <a:endParaRPr lang="en-US" sz="1150" dirty="0"/>
          </a:p>
        </p:txBody>
      </p:sp>
      <p:sp>
        <p:nvSpPr>
          <p:cNvPr id="13" name="Shape 10"/>
          <p:cNvSpPr/>
          <p:nvPr/>
        </p:nvSpPr>
        <p:spPr>
          <a:xfrm>
            <a:off x="7498080" y="2148840"/>
            <a:ext cx="4050792" cy="749808"/>
          </a:xfrm>
          <a:prstGeom prst="roundRect">
            <a:avLst>
              <a:gd name="adj" fmla="val 8537"/>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4" name="Text 11"/>
          <p:cNvSpPr/>
          <p:nvPr/>
        </p:nvSpPr>
        <p:spPr>
          <a:xfrm>
            <a:off x="7726680" y="2148840"/>
            <a:ext cx="3593592" cy="749808"/>
          </a:xfrm>
          <a:prstGeom prst="rect">
            <a:avLst/>
          </a:prstGeom>
          <a:noFill/>
          <a:ln/>
        </p:spPr>
        <p:txBody>
          <a:bodyPr wrap="square" lIns="0" tIns="0" rIns="0" bIns="0" rtlCol="0" anchor="ctr"/>
          <a:lstStyle/>
          <a:p>
            <a:pPr algn="l" indent="0" marL="0">
              <a:buNone/>
            </a:pPr>
            <a:r>
              <a:rPr lang="en-US" sz="2300" b="1" dirty="0">
                <a:solidFill>
                  <a:srgbClr val="0F766E"/>
                </a:solidFill>
                <a:latin typeface="Trebuchet MS" pitchFamily="34" charset="0"/>
                <a:ea typeface="Trebuchet MS" pitchFamily="34" charset="-122"/>
                <a:cs typeface="Trebuchet MS" pitchFamily="34" charset="-120"/>
              </a:rPr>
              <a:t>9%   </a:t>
            </a:r>
            <a:pPr algn="l" indent="0" marL="0">
              <a:buNone/>
            </a:pPr>
            <a:r>
              <a:rPr lang="en-US" sz="1400" dirty="0">
                <a:solidFill>
                  <a:srgbClr val="475569"/>
                </a:solidFill>
                <a:latin typeface="Calibri" pitchFamily="34" charset="0"/>
                <a:ea typeface="Calibri" pitchFamily="34" charset="-122"/>
                <a:cs typeface="Calibri" pitchFamily="34" charset="-120"/>
              </a:rPr>
              <a:t>forward vs reverse gap</a:t>
            </a:r>
            <a:endParaRPr lang="en-US" sz="2300" dirty="0"/>
          </a:p>
        </p:txBody>
      </p:sp>
      <p:sp>
        <p:nvSpPr>
          <p:cNvPr id="15" name="Shape 12"/>
          <p:cNvSpPr/>
          <p:nvPr/>
        </p:nvSpPr>
        <p:spPr>
          <a:xfrm>
            <a:off x="7498080" y="2999232"/>
            <a:ext cx="4050792" cy="749808"/>
          </a:xfrm>
          <a:prstGeom prst="roundRect">
            <a:avLst>
              <a:gd name="adj" fmla="val 8537"/>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6" name="Text 13"/>
          <p:cNvSpPr/>
          <p:nvPr/>
        </p:nvSpPr>
        <p:spPr>
          <a:xfrm>
            <a:off x="7726680" y="2999232"/>
            <a:ext cx="3593592" cy="749808"/>
          </a:xfrm>
          <a:prstGeom prst="rect">
            <a:avLst/>
          </a:prstGeom>
          <a:noFill/>
          <a:ln/>
        </p:spPr>
        <p:txBody>
          <a:bodyPr wrap="square" lIns="0" tIns="0" rIns="0" bIns="0" rtlCol="0" anchor="ctr"/>
          <a:lstStyle/>
          <a:p>
            <a:pPr algn="l" indent="0" marL="0">
              <a:buNone/>
            </a:pPr>
            <a:r>
              <a:rPr lang="en-US" sz="2300" b="1" dirty="0">
                <a:solidFill>
                  <a:srgbClr val="0F766E"/>
                </a:solidFill>
                <a:latin typeface="Trebuchet MS" pitchFamily="34" charset="0"/>
                <a:ea typeface="Trebuchet MS" pitchFamily="34" charset="-122"/>
                <a:cs typeface="Trebuchet MS" pitchFamily="34" charset="-120"/>
              </a:rPr>
              <a:t>≈1%   </a:t>
            </a:r>
            <a:pPr algn="l" indent="0" marL="0">
              <a:buNone/>
            </a:pPr>
            <a:r>
              <a:rPr lang="en-US" sz="1400" dirty="0">
                <a:solidFill>
                  <a:srgbClr val="475569"/>
                </a:solidFill>
                <a:latin typeface="Calibri" pitchFamily="34" charset="0"/>
                <a:ea typeface="Calibri" pitchFamily="34" charset="-122"/>
                <a:cs typeface="Calibri" pitchFamily="34" charset="-120"/>
              </a:rPr>
              <a:t>run-to-run reproducibility</a:t>
            </a:r>
            <a:endParaRPr lang="en-US" sz="2300" dirty="0"/>
          </a:p>
        </p:txBody>
      </p:sp>
      <p:sp>
        <p:nvSpPr>
          <p:cNvPr id="17" name="Shape 14"/>
          <p:cNvSpPr/>
          <p:nvPr/>
        </p:nvSpPr>
        <p:spPr>
          <a:xfrm>
            <a:off x="640080" y="4069080"/>
            <a:ext cx="10908792" cy="1371600"/>
          </a:xfrm>
          <a:prstGeom prst="roundRect">
            <a:avLst>
              <a:gd name="adj" fmla="val 4667"/>
            </a:avLst>
          </a:prstGeom>
          <a:solidFill>
            <a:srgbClr val="D6F0EC"/>
          </a:solidFill>
          <a:ln w="12700">
            <a:solidFill>
              <a:srgbClr val="0F766E"/>
            </a:solidFill>
            <a:prstDash val="solid"/>
          </a:ln>
          <a:effectLst>
            <a:outerShdw sx="100000" sy="100000" kx="0" ky="0" algn="bl" rotWithShape="0" blurRad="88900" dist="38100" dir="8100000">
              <a:srgbClr val="0F2440">
                <a:alpha val="12000"/>
              </a:srgbClr>
            </a:outerShdw>
          </a:effectLst>
        </p:spPr>
      </p:sp>
      <p:sp>
        <p:nvSpPr>
          <p:cNvPr id="18" name="Text 15"/>
          <p:cNvSpPr/>
          <p:nvPr/>
        </p:nvSpPr>
        <p:spPr>
          <a:xfrm>
            <a:off x="914400" y="4069080"/>
            <a:ext cx="10360152" cy="13716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The large directional asymmetry of the driver does not reappear here. </a:t>
            </a:r>
            <a:pPr indent="0" marL="0">
              <a:buNone/>
            </a:pPr>
            <a:r>
              <a:rPr lang="en-US" sz="1500" dirty="0">
                <a:solidFill>
                  <a:srgbClr val="1E293B"/>
                </a:solidFill>
                <a:latin typeface="Calibri" pitchFamily="34" charset="0"/>
                <a:ea typeface="Calibri" pitchFamily="34" charset="-122"/>
                <a:cs typeface="Calibri" pitchFamily="34" charset="-120"/>
              </a:rPr>
              <a:t>That one-block localisation — dirty driver, clean motor — is precisely what justifies splitting the plant into a cascade.  </a:t>
            </a:r>
            <a:pPr indent="0" marL="0">
              <a:buNone/>
            </a:pPr>
            <a:r>
              <a:rPr lang="en-US" sz="1500" b="1" dirty="0">
                <a:solidFill>
                  <a:srgbClr val="0F766E"/>
                </a:solidFill>
                <a:latin typeface="Calibri" pitchFamily="34" charset="0"/>
                <a:ea typeface="Calibri" pitchFamily="34" charset="-122"/>
                <a:cs typeface="Calibri" pitchFamily="34" charset="-120"/>
              </a:rPr>
              <a:t>This is contribution one.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B45309"/>
                </a:solidFill>
                <a:latin typeface="Trebuchet MS" pitchFamily="34" charset="0"/>
                <a:ea typeface="Trebuchet MS" pitchFamily="34" charset="-122"/>
                <a:cs typeface="Trebuchet MS" pitchFamily="34" charset="-120"/>
              </a:rPr>
              <a:t>OPEN-LOOP EVIDENCE · 3 OF 3</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A single time constant is wrong by ~2×: the dynamics are region-dependent (Model C).</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938528"/>
            <a:ext cx="3465576" cy="914400"/>
          </a:xfrm>
          <a:prstGeom prst="roundRect">
            <a:avLst>
              <a:gd name="adj" fmla="val 7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713232" y="2048256"/>
            <a:ext cx="3319272" cy="502920"/>
          </a:xfrm>
          <a:prstGeom prst="rect">
            <a:avLst/>
          </a:prstGeom>
          <a:noFill/>
          <a:ln/>
        </p:spPr>
        <p:txBody>
          <a:bodyPr wrap="square" lIns="0" tIns="0" rIns="0" bIns="0" rtlCol="0" anchor="ctr"/>
          <a:lstStyle/>
          <a:p>
            <a:pPr algn="ctr" indent="0" marL="0">
              <a:buNone/>
            </a:pPr>
            <a:r>
              <a:rPr lang="en-US" sz="3800" b="1" dirty="0">
                <a:solidFill>
                  <a:srgbClr val="B45309"/>
                </a:solidFill>
                <a:latin typeface="Trebuchet MS" pitchFamily="34" charset="0"/>
                <a:ea typeface="Trebuchet MS" pitchFamily="34" charset="-122"/>
                <a:cs typeface="Trebuchet MS" pitchFamily="34" charset="-120"/>
              </a:rPr>
              <a:t>≈ 2×</a:t>
            </a:r>
            <a:endParaRPr lang="en-US" sz="3800" dirty="0"/>
          </a:p>
        </p:txBody>
      </p:sp>
      <p:sp>
        <p:nvSpPr>
          <p:cNvPr id="9" name="Text 6"/>
          <p:cNvSpPr/>
          <p:nvPr/>
        </p:nvSpPr>
        <p:spPr>
          <a:xfrm>
            <a:off x="768096" y="2487168"/>
            <a:ext cx="3209544" cy="329184"/>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decel τ vs accel τ</a:t>
            </a:r>
            <a:endParaRPr lang="en-US" sz="1150" dirty="0"/>
          </a:p>
        </p:txBody>
      </p:sp>
      <p:sp>
        <p:nvSpPr>
          <p:cNvPr id="10" name="Shape 7"/>
          <p:cNvSpPr/>
          <p:nvPr/>
        </p:nvSpPr>
        <p:spPr>
          <a:xfrm>
            <a:off x="4270248" y="1938528"/>
            <a:ext cx="3465576" cy="914400"/>
          </a:xfrm>
          <a:prstGeom prst="roundRect">
            <a:avLst>
              <a:gd name="adj" fmla="val 7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8"/>
          <p:cNvSpPr/>
          <p:nvPr/>
        </p:nvSpPr>
        <p:spPr>
          <a:xfrm>
            <a:off x="4343400" y="2048256"/>
            <a:ext cx="3319272" cy="502920"/>
          </a:xfrm>
          <a:prstGeom prst="rect">
            <a:avLst/>
          </a:prstGeom>
          <a:noFill/>
          <a:ln/>
        </p:spPr>
        <p:txBody>
          <a:bodyPr wrap="square" lIns="0" tIns="0" rIns="0" bIns="0" rtlCol="0" anchor="ctr"/>
          <a:lstStyle/>
          <a:p>
            <a:pPr algn="ctr" indent="0" marL="0">
              <a:buNone/>
            </a:pPr>
            <a:r>
              <a:rPr lang="en-US" sz="3800" b="1" dirty="0">
                <a:solidFill>
                  <a:srgbClr val="B45309"/>
                </a:solidFill>
                <a:latin typeface="Trebuchet MS" pitchFamily="34" charset="0"/>
                <a:ea typeface="Trebuchet MS" pitchFamily="34" charset="-122"/>
                <a:cs typeface="Trebuchet MS" pitchFamily="34" charset="-120"/>
              </a:rPr>
              <a:t>81 ms</a:t>
            </a:r>
            <a:endParaRPr lang="en-US" sz="3800" dirty="0"/>
          </a:p>
        </p:txBody>
      </p:sp>
      <p:sp>
        <p:nvSpPr>
          <p:cNvPr id="12" name="Text 9"/>
          <p:cNvSpPr/>
          <p:nvPr/>
        </p:nvSpPr>
        <p:spPr>
          <a:xfrm>
            <a:off x="4398264" y="2487168"/>
            <a:ext cx="3209544" cy="329184"/>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accel τ floor (→200 near breakaway)</a:t>
            </a:r>
            <a:endParaRPr lang="en-US" sz="1150" dirty="0"/>
          </a:p>
        </p:txBody>
      </p:sp>
      <p:sp>
        <p:nvSpPr>
          <p:cNvPr id="13" name="Shape 10"/>
          <p:cNvSpPr/>
          <p:nvPr/>
        </p:nvSpPr>
        <p:spPr>
          <a:xfrm>
            <a:off x="7900416" y="1938528"/>
            <a:ext cx="3465576" cy="914400"/>
          </a:xfrm>
          <a:prstGeom prst="roundRect">
            <a:avLst>
              <a:gd name="adj" fmla="val 7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4" name="Text 11"/>
          <p:cNvSpPr/>
          <p:nvPr/>
        </p:nvSpPr>
        <p:spPr>
          <a:xfrm>
            <a:off x="7973568" y="2048256"/>
            <a:ext cx="3319272" cy="502920"/>
          </a:xfrm>
          <a:prstGeom prst="rect">
            <a:avLst/>
          </a:prstGeom>
          <a:noFill/>
          <a:ln/>
        </p:spPr>
        <p:txBody>
          <a:bodyPr wrap="square" lIns="0" tIns="0" rIns="0" bIns="0" rtlCol="0" anchor="ctr"/>
          <a:lstStyle/>
          <a:p>
            <a:pPr algn="ctr" indent="0" marL="0">
              <a:buNone/>
            </a:pPr>
            <a:r>
              <a:rPr lang="en-US" sz="3800" b="1" dirty="0">
                <a:solidFill>
                  <a:srgbClr val="B45309"/>
                </a:solidFill>
                <a:latin typeface="Trebuchet MS" pitchFamily="34" charset="0"/>
                <a:ea typeface="Trebuchet MS" pitchFamily="34" charset="-122"/>
                <a:cs typeface="Trebuchet MS" pitchFamily="34" charset="-120"/>
              </a:rPr>
              <a:t>321–366</a:t>
            </a:r>
            <a:endParaRPr lang="en-US" sz="3800" dirty="0"/>
          </a:p>
        </p:txBody>
      </p:sp>
      <p:sp>
        <p:nvSpPr>
          <p:cNvPr id="15" name="Text 12"/>
          <p:cNvSpPr/>
          <p:nvPr/>
        </p:nvSpPr>
        <p:spPr>
          <a:xfrm>
            <a:off x="8028432" y="2487168"/>
            <a:ext cx="3209544" cy="329184"/>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decel τ (ms), deadzone coast</a:t>
            </a:r>
            <a:endParaRPr lang="en-US" sz="1150" dirty="0"/>
          </a:p>
        </p:txBody>
      </p:sp>
      <p:sp>
        <p:nvSpPr>
          <p:cNvPr id="16" name="Shape 13"/>
          <p:cNvSpPr/>
          <p:nvPr/>
        </p:nvSpPr>
        <p:spPr>
          <a:xfrm>
            <a:off x="1872606" y="2852928"/>
            <a:ext cx="8443741" cy="3209544"/>
          </a:xfrm>
          <a:prstGeom prst="roundRect">
            <a:avLst>
              <a:gd name="adj" fmla="val 114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17" name="Image 0" descr="/Users/piyush/code/System_Identification_DC_Motor/figures/22_model_ladder_fullgrid.png">    </p:cNvPr>
          <p:cNvPicPr>
            <a:picLocks noChangeAspect="1"/>
          </p:cNvPicPr>
          <p:nvPr/>
        </p:nvPicPr>
        <p:blipFill>
          <a:blip r:embed="rId1"/>
          <a:stretch>
            <a:fillRect/>
          </a:stretch>
        </p:blipFill>
        <p:spPr>
          <a:xfrm>
            <a:off x="1945758" y="2926080"/>
            <a:ext cx="8297437" cy="3063240"/>
          </a:xfrm>
          <a:prstGeom prst="rect">
            <a:avLst/>
          </a:prstGeom>
        </p:spPr>
      </p:pic>
      <p:sp>
        <p:nvSpPr>
          <p:cNvPr id="18" name="Text 14"/>
          <p:cNvSpPr/>
          <p:nvPr/>
        </p:nvSpPr>
        <p:spPr>
          <a:xfrm>
            <a:off x="640080" y="6035040"/>
            <a:ext cx="10908792"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Fig 4.8 — Model B's single τ fails worst at the bathtub bottom (PWM 180–220) and at deadzone-edge decel; Model C stays flat-low. Direction asymmetry reverses sign accel ↔ decel.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0F766E"/>
                </a:solidFill>
                <a:latin typeface="Trebuchet MS" pitchFamily="34" charset="0"/>
                <a:ea typeface="Trebuchet MS" pitchFamily="34" charset="-122"/>
                <a:cs typeface="Trebuchet MS" pitchFamily="34" charset="-120"/>
              </a:rPr>
              <a:t>VALIDATION · 1 OF 2</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Cross-validation gives ~0.1–1 rpm error — and exposed a cold-start effect I confirmed by prediction.</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938528"/>
            <a:ext cx="3465576" cy="914400"/>
          </a:xfrm>
          <a:prstGeom prst="roundRect">
            <a:avLst>
              <a:gd name="adj" fmla="val 7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713232" y="2048256"/>
            <a:ext cx="3319272" cy="502920"/>
          </a:xfrm>
          <a:prstGeom prst="rect">
            <a:avLst/>
          </a:prstGeom>
          <a:noFill/>
          <a:ln/>
        </p:spPr>
        <p:txBody>
          <a:bodyPr wrap="square" lIns="0" tIns="0" rIns="0" bIns="0" rtlCol="0" anchor="ctr"/>
          <a:lstStyle/>
          <a:p>
            <a:pPr algn="ctr" indent="0" marL="0">
              <a:buNone/>
            </a:pPr>
            <a:r>
              <a:rPr lang="en-US" sz="3800" b="1" dirty="0">
                <a:solidFill>
                  <a:srgbClr val="0F766E"/>
                </a:solidFill>
                <a:latin typeface="Trebuchet MS" pitchFamily="34" charset="0"/>
                <a:ea typeface="Trebuchet MS" pitchFamily="34" charset="-122"/>
                <a:cs typeface="Trebuchet MS" pitchFamily="34" charset="-120"/>
              </a:rPr>
              <a:t>+1.06</a:t>
            </a:r>
            <a:endParaRPr lang="en-US" sz="3800" dirty="0"/>
          </a:p>
        </p:txBody>
      </p:sp>
      <p:sp>
        <p:nvSpPr>
          <p:cNvPr id="9" name="Text 6"/>
          <p:cNvSpPr/>
          <p:nvPr/>
        </p:nvSpPr>
        <p:spPr>
          <a:xfrm>
            <a:off x="768096" y="2487168"/>
            <a:ext cx="3209544" cy="329184"/>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accel LOOCV excess (rpm)</a:t>
            </a:r>
            <a:endParaRPr lang="en-US" sz="1150" dirty="0"/>
          </a:p>
        </p:txBody>
      </p:sp>
      <p:sp>
        <p:nvSpPr>
          <p:cNvPr id="10" name="Shape 7"/>
          <p:cNvSpPr/>
          <p:nvPr/>
        </p:nvSpPr>
        <p:spPr>
          <a:xfrm>
            <a:off x="4270248" y="1938528"/>
            <a:ext cx="3465576" cy="914400"/>
          </a:xfrm>
          <a:prstGeom prst="roundRect">
            <a:avLst>
              <a:gd name="adj" fmla="val 7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8"/>
          <p:cNvSpPr/>
          <p:nvPr/>
        </p:nvSpPr>
        <p:spPr>
          <a:xfrm>
            <a:off x="4343400" y="2048256"/>
            <a:ext cx="3319272" cy="502920"/>
          </a:xfrm>
          <a:prstGeom prst="rect">
            <a:avLst/>
          </a:prstGeom>
          <a:noFill/>
          <a:ln/>
        </p:spPr>
        <p:txBody>
          <a:bodyPr wrap="square" lIns="0" tIns="0" rIns="0" bIns="0" rtlCol="0" anchor="ctr"/>
          <a:lstStyle/>
          <a:p>
            <a:pPr algn="ctr" indent="0" marL="0">
              <a:buNone/>
            </a:pPr>
            <a:r>
              <a:rPr lang="en-US" sz="3800" b="1" dirty="0">
                <a:solidFill>
                  <a:srgbClr val="475569"/>
                </a:solidFill>
                <a:latin typeface="Trebuchet MS" pitchFamily="34" charset="0"/>
                <a:ea typeface="Trebuchet MS" pitchFamily="34" charset="-122"/>
                <a:cs typeface="Trebuchet MS" pitchFamily="34" charset="-120"/>
              </a:rPr>
              <a:t>+0.10</a:t>
            </a:r>
            <a:endParaRPr lang="en-US" sz="3800" dirty="0"/>
          </a:p>
        </p:txBody>
      </p:sp>
      <p:sp>
        <p:nvSpPr>
          <p:cNvPr id="12" name="Text 9"/>
          <p:cNvSpPr/>
          <p:nvPr/>
        </p:nvSpPr>
        <p:spPr>
          <a:xfrm>
            <a:off x="4398264" y="2487168"/>
            <a:ext cx="3209544" cy="329184"/>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decel LOOCV excess (rpm)</a:t>
            </a:r>
            <a:endParaRPr lang="en-US" sz="1150" dirty="0"/>
          </a:p>
        </p:txBody>
      </p:sp>
      <p:sp>
        <p:nvSpPr>
          <p:cNvPr id="13" name="Shape 10"/>
          <p:cNvSpPr/>
          <p:nvPr/>
        </p:nvSpPr>
        <p:spPr>
          <a:xfrm>
            <a:off x="7900416" y="1938528"/>
            <a:ext cx="3465576" cy="914400"/>
          </a:xfrm>
          <a:prstGeom prst="roundRect">
            <a:avLst>
              <a:gd name="adj" fmla="val 700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4" name="Text 11"/>
          <p:cNvSpPr/>
          <p:nvPr/>
        </p:nvSpPr>
        <p:spPr>
          <a:xfrm>
            <a:off x="7973568" y="2048256"/>
            <a:ext cx="3319272" cy="502920"/>
          </a:xfrm>
          <a:prstGeom prst="rect">
            <a:avLst/>
          </a:prstGeom>
          <a:noFill/>
          <a:ln/>
        </p:spPr>
        <p:txBody>
          <a:bodyPr wrap="square" lIns="0" tIns="0" rIns="0" bIns="0" rtlCol="0" anchor="ctr"/>
          <a:lstStyle/>
          <a:p>
            <a:pPr algn="ctr" indent="0" marL="0">
              <a:buNone/>
            </a:pPr>
            <a:r>
              <a:rPr lang="en-US" sz="3800" b="1" dirty="0">
                <a:solidFill>
                  <a:srgbClr val="0F766E"/>
                </a:solidFill>
                <a:latin typeface="Trebuchet MS" pitchFamily="34" charset="0"/>
                <a:ea typeface="Trebuchet MS" pitchFamily="34" charset="-122"/>
                <a:cs typeface="Trebuchet MS" pitchFamily="34" charset="-120"/>
              </a:rPr>
              <a:t>−0.05</a:t>
            </a:r>
            <a:endParaRPr lang="en-US" sz="3800" dirty="0"/>
          </a:p>
        </p:txBody>
      </p:sp>
      <p:sp>
        <p:nvSpPr>
          <p:cNvPr id="15" name="Text 12"/>
          <p:cNvSpPr/>
          <p:nvPr/>
        </p:nvSpPr>
        <p:spPr>
          <a:xfrm>
            <a:off x="8028432" y="2487168"/>
            <a:ext cx="3209544" cy="329184"/>
          </a:xfrm>
          <a:prstGeom prst="rect">
            <a:avLst/>
          </a:prstGeom>
          <a:noFill/>
          <a:ln/>
        </p:spPr>
        <p:txBody>
          <a:bodyPr wrap="square" lIns="0" tIns="0" rIns="0" bIns="0" rtlCol="0" anchor="t"/>
          <a:lstStyle/>
          <a:p>
            <a:pPr algn="ctr" indent="0" marL="0">
              <a:buNone/>
            </a:pPr>
            <a:r>
              <a:rPr lang="en-US" sz="1150" dirty="0">
                <a:solidFill>
                  <a:srgbClr val="475569"/>
                </a:solidFill>
                <a:latin typeface="Calibri" pitchFamily="34" charset="0"/>
                <a:ea typeface="Calibri" pitchFamily="34" charset="-122"/>
                <a:cs typeface="Calibri" pitchFamily="34" charset="-120"/>
              </a:rPr>
              <a:t>warm accel excess — prediction met</a:t>
            </a:r>
            <a:endParaRPr lang="en-US" sz="1150" dirty="0"/>
          </a:p>
        </p:txBody>
      </p:sp>
      <p:sp>
        <p:nvSpPr>
          <p:cNvPr id="16" name="Shape 13"/>
          <p:cNvSpPr/>
          <p:nvPr/>
        </p:nvSpPr>
        <p:spPr>
          <a:xfrm>
            <a:off x="1565702" y="2852928"/>
            <a:ext cx="9057548" cy="3209544"/>
          </a:xfrm>
          <a:prstGeom prst="roundRect">
            <a:avLst>
              <a:gd name="adj" fmla="val 1140"/>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17" name="Image 0" descr="/Users/piyush/code/System_Identification_DC_Motor/figures/19_loocv_phase22_vs_gapfill.png">    </p:cNvPr>
          <p:cNvPicPr>
            <a:picLocks noChangeAspect="1"/>
          </p:cNvPicPr>
          <p:nvPr/>
        </p:nvPicPr>
        <p:blipFill>
          <a:blip r:embed="rId1"/>
          <a:stretch>
            <a:fillRect/>
          </a:stretch>
        </p:blipFill>
        <p:spPr>
          <a:xfrm>
            <a:off x="1638854" y="2926080"/>
            <a:ext cx="8911244" cy="3063240"/>
          </a:xfrm>
          <a:prstGeom prst="rect">
            <a:avLst/>
          </a:prstGeom>
        </p:spPr>
      </p:pic>
      <p:sp>
        <p:nvSpPr>
          <p:cNvPr id="18" name="Text 14"/>
          <p:cNvSpPr/>
          <p:nvPr/>
        </p:nvSpPr>
        <p:spPr>
          <a:xfrm>
            <a:off x="640080" y="6035040"/>
            <a:ext cx="10908792"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LOOCV RMSE vs in-sample floor. Left (cool session): accel excess +1.06. Right (warm session): accel excess collapses to −0.05 — the cold-start hypothesis, confirmed. No held-out set ever existed → LOOCV is the honest estimator.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B45309"/>
                </a:solidFill>
                <a:latin typeface="Trebuchet MS" pitchFamily="34" charset="0"/>
                <a:ea typeface="Trebuchet MS" pitchFamily="34" charset="-122"/>
                <a:cs typeface="Trebuchet MS" pitchFamily="34" charset="-120"/>
              </a:rPr>
              <a:t>VALIDATION · 2 OF 2</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Calibration drifts between sessions in a structured way — so reuse is unsafe.</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2103120"/>
            <a:ext cx="3456432" cy="1691640"/>
          </a:xfrm>
          <a:prstGeom prst="roundRect">
            <a:avLst>
              <a:gd name="adj" fmla="val 3784"/>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822960" y="2212848"/>
            <a:ext cx="3090672" cy="457200"/>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Cold-start transient</a:t>
            </a:r>
            <a:endParaRPr lang="en-US" sz="1350" dirty="0"/>
          </a:p>
        </p:txBody>
      </p:sp>
      <p:sp>
        <p:nvSpPr>
          <p:cNvPr id="9" name="Text 6"/>
          <p:cNvSpPr/>
          <p:nvPr/>
        </p:nvSpPr>
        <p:spPr>
          <a:xfrm>
            <a:off x="822960" y="2670048"/>
            <a:ext cx="3090672" cy="77724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Forward-accel τ is inflated for the first ≈30 s, then recovers as the motor warms.</a:t>
            </a:r>
            <a:endParaRPr lang="en-US" sz="1200" dirty="0"/>
          </a:p>
        </p:txBody>
      </p:sp>
      <p:sp>
        <p:nvSpPr>
          <p:cNvPr id="10" name="Shape 7"/>
          <p:cNvSpPr/>
          <p:nvPr/>
        </p:nvSpPr>
        <p:spPr>
          <a:xfrm>
            <a:off x="822960" y="3401568"/>
            <a:ext cx="1417320" cy="310896"/>
          </a:xfrm>
          <a:prstGeom prst="roundRect">
            <a:avLst>
              <a:gd name="adj" fmla="val 35294"/>
            </a:avLst>
          </a:prstGeom>
          <a:solidFill>
            <a:srgbClr val="475569"/>
          </a:solidFill>
          <a:ln/>
        </p:spPr>
      </p:sp>
      <p:sp>
        <p:nvSpPr>
          <p:cNvPr id="11" name="Text 8"/>
          <p:cNvSpPr/>
          <p:nvPr/>
        </p:nvSpPr>
        <p:spPr>
          <a:xfrm>
            <a:off x="914400" y="3401568"/>
            <a:ext cx="12344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transient</a:t>
            </a:r>
            <a:endParaRPr lang="en-US" sz="1300" dirty="0"/>
          </a:p>
        </p:txBody>
      </p:sp>
      <p:sp>
        <p:nvSpPr>
          <p:cNvPr id="12" name="Shape 9"/>
          <p:cNvSpPr/>
          <p:nvPr/>
        </p:nvSpPr>
        <p:spPr>
          <a:xfrm>
            <a:off x="4366260" y="2103120"/>
            <a:ext cx="3456432" cy="1691640"/>
          </a:xfrm>
          <a:prstGeom prst="roundRect">
            <a:avLst>
              <a:gd name="adj" fmla="val 3784"/>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3" name="Text 10"/>
          <p:cNvSpPr/>
          <p:nvPr/>
        </p:nvSpPr>
        <p:spPr>
          <a:xfrm>
            <a:off x="4549140" y="2212848"/>
            <a:ext cx="3090672" cy="457200"/>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Low-speed decel slowdown</a:t>
            </a:r>
            <a:endParaRPr lang="en-US" sz="1350" dirty="0"/>
          </a:p>
        </p:txBody>
      </p:sp>
      <p:sp>
        <p:nvSpPr>
          <p:cNvPr id="14" name="Text 11"/>
          <p:cNvSpPr/>
          <p:nvPr/>
        </p:nvSpPr>
        <p:spPr>
          <a:xfrm>
            <a:off x="4549140" y="2670048"/>
            <a:ext cx="3090672" cy="77724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Deceleration to low targets runs persistently slower than interpolation predicts.</a:t>
            </a:r>
            <a:endParaRPr lang="en-US" sz="1200" dirty="0"/>
          </a:p>
        </p:txBody>
      </p:sp>
      <p:sp>
        <p:nvSpPr>
          <p:cNvPr id="15" name="Shape 12"/>
          <p:cNvSpPr/>
          <p:nvPr/>
        </p:nvSpPr>
        <p:spPr>
          <a:xfrm>
            <a:off x="4549140" y="3401568"/>
            <a:ext cx="1417320" cy="310896"/>
          </a:xfrm>
          <a:prstGeom prst="roundRect">
            <a:avLst>
              <a:gd name="adj" fmla="val 35294"/>
            </a:avLst>
          </a:prstGeom>
          <a:solidFill>
            <a:srgbClr val="B45309"/>
          </a:solidFill>
          <a:ln/>
        </p:spPr>
      </p:sp>
      <p:sp>
        <p:nvSpPr>
          <p:cNvPr id="16" name="Text 13"/>
          <p:cNvSpPr/>
          <p:nvPr/>
        </p:nvSpPr>
        <p:spPr>
          <a:xfrm>
            <a:off x="4640580" y="3401568"/>
            <a:ext cx="12344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persistent</a:t>
            </a:r>
            <a:endParaRPr lang="en-US" sz="1300" dirty="0"/>
          </a:p>
        </p:txBody>
      </p:sp>
      <p:sp>
        <p:nvSpPr>
          <p:cNvPr id="17" name="Shape 14"/>
          <p:cNvSpPr/>
          <p:nvPr/>
        </p:nvSpPr>
        <p:spPr>
          <a:xfrm>
            <a:off x="8092440" y="2103120"/>
            <a:ext cx="3456432" cy="1691640"/>
          </a:xfrm>
          <a:prstGeom prst="roundRect">
            <a:avLst>
              <a:gd name="adj" fmla="val 3784"/>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8" name="Text 15"/>
          <p:cNvSpPr/>
          <p:nvPr/>
        </p:nvSpPr>
        <p:spPr>
          <a:xfrm>
            <a:off x="8275320" y="2212848"/>
            <a:ext cx="3090672" cy="457200"/>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Reverse high-PWM speed-up</a:t>
            </a:r>
            <a:endParaRPr lang="en-US" sz="1350" dirty="0"/>
          </a:p>
        </p:txBody>
      </p:sp>
      <p:sp>
        <p:nvSpPr>
          <p:cNvPr id="19" name="Text 16"/>
          <p:cNvSpPr/>
          <p:nvPr/>
        </p:nvSpPr>
        <p:spPr>
          <a:xfrm>
            <a:off x="8275320" y="2670048"/>
            <a:ext cx="3090672" cy="77724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Reverse τ ran persistently ≈20% below its earlier value.</a:t>
            </a:r>
            <a:endParaRPr lang="en-US" sz="1200" dirty="0"/>
          </a:p>
        </p:txBody>
      </p:sp>
      <p:sp>
        <p:nvSpPr>
          <p:cNvPr id="20" name="Shape 17"/>
          <p:cNvSpPr/>
          <p:nvPr/>
        </p:nvSpPr>
        <p:spPr>
          <a:xfrm>
            <a:off x="8275320" y="3401568"/>
            <a:ext cx="1417320" cy="310896"/>
          </a:xfrm>
          <a:prstGeom prst="roundRect">
            <a:avLst>
              <a:gd name="adj" fmla="val 35294"/>
            </a:avLst>
          </a:prstGeom>
          <a:solidFill>
            <a:srgbClr val="B45309"/>
          </a:solidFill>
          <a:ln/>
        </p:spPr>
      </p:sp>
      <p:sp>
        <p:nvSpPr>
          <p:cNvPr id="21" name="Text 18"/>
          <p:cNvSpPr/>
          <p:nvPr/>
        </p:nvSpPr>
        <p:spPr>
          <a:xfrm>
            <a:off x="8366760" y="3401568"/>
            <a:ext cx="12344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persistent</a:t>
            </a:r>
            <a:endParaRPr lang="en-US" sz="1300" dirty="0"/>
          </a:p>
        </p:txBody>
      </p:sp>
      <p:sp>
        <p:nvSpPr>
          <p:cNvPr id="22" name="Shape 19"/>
          <p:cNvSpPr/>
          <p:nvPr/>
        </p:nvSpPr>
        <p:spPr>
          <a:xfrm>
            <a:off x="640080" y="4023360"/>
            <a:ext cx="10908792" cy="1417320"/>
          </a:xfrm>
          <a:prstGeom prst="roundRect">
            <a:avLst>
              <a:gd name="adj" fmla="val 4516"/>
            </a:avLst>
          </a:prstGeom>
          <a:solidFill>
            <a:srgbClr val="FBE8D3"/>
          </a:solidFill>
          <a:ln w="12700">
            <a:solidFill>
              <a:srgbClr val="E8C49B"/>
            </a:solidFill>
            <a:prstDash val="solid"/>
          </a:ln>
          <a:effectLst>
            <a:outerShdw sx="100000" sy="100000" kx="0" ky="0" algn="bl" rotWithShape="0" blurRad="88900" dist="38100" dir="8100000">
              <a:srgbClr val="0F2440">
                <a:alpha val="12000"/>
              </a:srgbClr>
            </a:outerShdw>
          </a:effectLst>
        </p:spPr>
      </p:sp>
      <p:sp>
        <p:nvSpPr>
          <p:cNvPr id="23" name="Text 20"/>
          <p:cNvSpPr/>
          <p:nvPr/>
        </p:nvSpPr>
        <p:spPr>
          <a:xfrm>
            <a:off x="914400" y="4023360"/>
            <a:ext cx="10360152" cy="141732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Phase 3 proved the cost:  </a:t>
            </a:r>
            <a:pPr indent="0" marL="0">
              <a:buNone/>
            </a:pPr>
            <a:r>
              <a:rPr lang="en-US" sz="1400" dirty="0">
                <a:solidFill>
                  <a:srgbClr val="1E293B"/>
                </a:solidFill>
                <a:latin typeface="Calibri" pitchFamily="34" charset="0"/>
                <a:ea typeface="Calibri" pitchFamily="34" charset="-122"/>
                <a:cs typeface="Calibri" pitchFamily="34" charset="-120"/>
              </a:rPr>
              <a:t>a session-fresh Model A had τ = 155 ms vs the locked 207 ms (~25% off). Reusing the locked parameters would have built a ~30%-overdamped controller.   </a:t>
            </a:r>
            <a:pPr indent="0" marL="0">
              <a:buNone/>
            </a:pPr>
            <a:r>
              <a:rPr lang="en-US" sz="1400" b="1" dirty="0">
                <a:solidFill>
                  <a:srgbClr val="B45309"/>
                </a:solidFill>
                <a:latin typeface="Calibri" pitchFamily="34" charset="0"/>
                <a:ea typeface="Calibri" pitchFamily="34" charset="-122"/>
                <a:cs typeface="Calibri" pitchFamily="34" charset="-120"/>
              </a:rPr>
              <a:t>→ Recalibrate in situ; never reuse stored parameters.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0F2440"/>
                </a:solidFill>
                <a:latin typeface="Trebuchet MS" pitchFamily="34" charset="0"/>
                <a:ea typeface="Trebuchet MS" pitchFamily="34" charset="-122"/>
                <a:cs typeface="Trebuchet MS" pitchFamily="34" charset="-120"/>
              </a:rPr>
              <a:t>CLOSED-LOOP TEST · 1 OF 2</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I pre-registered the comparison, then ran it: cascade wins on steps, loses on the ramp.</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7" name="Text 4"/>
          <p:cNvSpPr/>
          <p:nvPr/>
        </p:nvSpPr>
        <p:spPr>
          <a:xfrm>
            <a:off x="868680" y="1993392"/>
            <a:ext cx="6400800" cy="292608"/>
          </a:xfrm>
          <a:prstGeom prst="rect">
            <a:avLst/>
          </a:prstGeom>
          <a:noFill/>
          <a:ln/>
        </p:spPr>
        <p:txBody>
          <a:bodyPr wrap="square" lIns="0" tIns="0" rIns="0" bIns="0" rtlCol="0" anchor="ctr"/>
          <a:lstStyle/>
          <a:p>
            <a:pPr algn="l" indent="0" marL="0">
              <a:buNone/>
            </a:pPr>
            <a:r>
              <a:rPr lang="en-US" sz="1150" b="1" dirty="0">
                <a:solidFill>
                  <a:srgbClr val="475569"/>
                </a:solidFill>
                <a:latin typeface="Calibri" pitchFamily="34" charset="0"/>
                <a:ea typeface="Calibri" pitchFamily="34" charset="-122"/>
                <a:cs typeface="Calibri" pitchFamily="34" charset="-120"/>
              </a:rPr>
              <a:t>BASE − CASC  (rpm)   ·   positive = cascade wins</a:t>
            </a:r>
            <a:endParaRPr lang="en-US" sz="1150" dirty="0"/>
          </a:p>
        </p:txBody>
      </p:sp>
      <p:sp>
        <p:nvSpPr>
          <p:cNvPr id="8" name="Shape 5"/>
          <p:cNvSpPr/>
          <p:nvPr/>
        </p:nvSpPr>
        <p:spPr>
          <a:xfrm>
            <a:off x="914400" y="4160520"/>
            <a:ext cx="6217920" cy="0"/>
          </a:xfrm>
          <a:prstGeom prst="line">
            <a:avLst/>
          </a:prstGeom>
          <a:noFill/>
          <a:ln w="15875">
            <a:solidFill>
              <a:srgbClr val="475569"/>
            </a:solidFill>
            <a:prstDash val="solid"/>
          </a:ln>
        </p:spPr>
      </p:sp>
      <p:sp>
        <p:nvSpPr>
          <p:cNvPr id="9" name="Shape 6"/>
          <p:cNvSpPr/>
          <p:nvPr/>
        </p:nvSpPr>
        <p:spPr>
          <a:xfrm>
            <a:off x="1408176" y="3384194"/>
            <a:ext cx="841248" cy="776326"/>
          </a:xfrm>
          <a:prstGeom prst="rect">
            <a:avLst/>
          </a:prstGeom>
          <a:solidFill>
            <a:srgbClr val="0F766E"/>
          </a:solidFill>
          <a:ln/>
        </p:spPr>
      </p:sp>
      <p:sp>
        <p:nvSpPr>
          <p:cNvPr id="10" name="Text 7"/>
          <p:cNvSpPr/>
          <p:nvPr/>
        </p:nvSpPr>
        <p:spPr>
          <a:xfrm>
            <a:off x="1097280" y="3073298"/>
            <a:ext cx="1463040" cy="27432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+2.83</a:t>
            </a:r>
            <a:endParaRPr lang="en-US" sz="1300" dirty="0"/>
          </a:p>
        </p:txBody>
      </p:sp>
      <p:sp>
        <p:nvSpPr>
          <p:cNvPr id="11" name="Text 8"/>
          <p:cNvSpPr/>
          <p:nvPr/>
        </p:nvSpPr>
        <p:spPr>
          <a:xfrm>
            <a:off x="960120" y="4983480"/>
            <a:ext cx="1737360" cy="640080"/>
          </a:xfrm>
          <a:prstGeom prst="rect">
            <a:avLst/>
          </a:prstGeom>
          <a:noFill/>
          <a:ln/>
        </p:spPr>
        <p:txBody>
          <a:bodyPr wrap="square" lIns="0" tIns="0" rIns="0" bIns="0" rtlCol="0" anchor="t"/>
          <a:lstStyle/>
          <a:p>
            <a:pPr algn="ctr" indent="0" marL="0">
              <a:buNone/>
            </a:pPr>
            <a:r>
              <a:rPr lang="en-US" sz="1150" b="1" dirty="0">
                <a:solidFill>
                  <a:srgbClr val="0F2440"/>
                </a:solidFill>
                <a:latin typeface="Calibri" pitchFamily="34" charset="0"/>
                <a:ea typeface="Calibri" pitchFamily="34" charset="-122"/>
                <a:cs typeface="Calibri" pitchFamily="34" charset="-120"/>
              </a:rPr>
              <a:t>P1 · staircase</a:t>
            </a:r>
            <a:endParaRPr lang="en-US" sz="1150" dirty="0"/>
          </a:p>
          <a:p>
            <a:pPr algn="ctr" indent="0" marL="0">
              <a:buNone/>
            </a:pPr>
            <a:r>
              <a:rPr lang="en-US" sz="1050" dirty="0">
                <a:solidFill>
                  <a:srgbClr val="64748B"/>
                </a:solidFill>
                <a:latin typeface="Calibri" pitchFamily="34" charset="0"/>
                <a:ea typeface="Calibri" pitchFamily="34" charset="-122"/>
                <a:cs typeface="Calibri" pitchFamily="34" charset="-120"/>
              </a:rPr>
              <a:t>p ≈ 0.004</a:t>
            </a:r>
            <a:endParaRPr lang="en-US" sz="1150" dirty="0"/>
          </a:p>
        </p:txBody>
      </p:sp>
      <p:sp>
        <p:nvSpPr>
          <p:cNvPr id="12" name="Shape 9"/>
          <p:cNvSpPr/>
          <p:nvPr/>
        </p:nvSpPr>
        <p:spPr>
          <a:xfrm>
            <a:off x="2871216" y="4160520"/>
            <a:ext cx="841248" cy="299009"/>
          </a:xfrm>
          <a:prstGeom prst="rect">
            <a:avLst/>
          </a:prstGeom>
          <a:solidFill>
            <a:srgbClr val="B91C1C"/>
          </a:solidFill>
          <a:ln/>
        </p:spPr>
      </p:sp>
      <p:sp>
        <p:nvSpPr>
          <p:cNvPr id="13" name="Text 10"/>
          <p:cNvSpPr/>
          <p:nvPr/>
        </p:nvSpPr>
        <p:spPr>
          <a:xfrm>
            <a:off x="2560320" y="4496105"/>
            <a:ext cx="1463040" cy="274320"/>
          </a:xfrm>
          <a:prstGeom prst="rect">
            <a:avLst/>
          </a:prstGeom>
          <a:noFill/>
          <a:ln/>
        </p:spPr>
        <p:txBody>
          <a:bodyPr wrap="square" lIns="0" tIns="0" rIns="0" bIns="0" rtlCol="0" anchor="ctr"/>
          <a:lstStyle/>
          <a:p>
            <a:pPr algn="ctr" indent="0" marL="0">
              <a:buNone/>
            </a:pPr>
            <a:r>
              <a:rPr lang="en-US" sz="1300" b="1" dirty="0">
                <a:solidFill>
                  <a:srgbClr val="B91C1C"/>
                </a:solidFill>
                <a:latin typeface="Trebuchet MS" pitchFamily="34" charset="0"/>
                <a:ea typeface="Trebuchet MS" pitchFamily="34" charset="-122"/>
                <a:cs typeface="Trebuchet MS" pitchFamily="34" charset="-120"/>
              </a:rPr>
              <a:t>-1.09</a:t>
            </a:r>
            <a:endParaRPr lang="en-US" sz="1300" dirty="0"/>
          </a:p>
        </p:txBody>
      </p:sp>
      <p:sp>
        <p:nvSpPr>
          <p:cNvPr id="14" name="Text 11"/>
          <p:cNvSpPr/>
          <p:nvPr/>
        </p:nvSpPr>
        <p:spPr>
          <a:xfrm>
            <a:off x="2423160" y="4983480"/>
            <a:ext cx="1737360" cy="640080"/>
          </a:xfrm>
          <a:prstGeom prst="rect">
            <a:avLst/>
          </a:prstGeom>
          <a:noFill/>
          <a:ln/>
        </p:spPr>
        <p:txBody>
          <a:bodyPr wrap="square" lIns="0" tIns="0" rIns="0" bIns="0" rtlCol="0" anchor="t"/>
          <a:lstStyle/>
          <a:p>
            <a:pPr algn="ctr" indent="0" marL="0">
              <a:buNone/>
            </a:pPr>
            <a:r>
              <a:rPr lang="en-US" sz="1150" b="1" dirty="0">
                <a:solidFill>
                  <a:srgbClr val="0F2440"/>
                </a:solidFill>
                <a:latin typeface="Calibri" pitchFamily="34" charset="0"/>
                <a:ea typeface="Calibri" pitchFamily="34" charset="-122"/>
                <a:cs typeface="Calibri" pitchFamily="34" charset="-120"/>
              </a:rPr>
              <a:t>P2 · deadzone ramp</a:t>
            </a:r>
            <a:endParaRPr lang="en-US" sz="1150" dirty="0"/>
          </a:p>
          <a:p>
            <a:pPr algn="ctr" indent="0" marL="0">
              <a:buNone/>
            </a:pPr>
            <a:r>
              <a:rPr lang="en-US" sz="1050" i="1" dirty="0">
                <a:solidFill>
                  <a:srgbClr val="B91C1C"/>
                </a:solidFill>
                <a:latin typeface="Calibri" pitchFamily="34" charset="0"/>
                <a:ea typeface="Calibri" pitchFamily="34" charset="-122"/>
                <a:cs typeface="Calibri" pitchFamily="34" charset="-120"/>
              </a:rPr>
              <a:t>loses</a:t>
            </a:r>
            <a:endParaRPr lang="en-US" sz="1150" dirty="0"/>
          </a:p>
        </p:txBody>
      </p:sp>
      <p:sp>
        <p:nvSpPr>
          <p:cNvPr id="15" name="Shape 12"/>
          <p:cNvSpPr/>
          <p:nvPr/>
        </p:nvSpPr>
        <p:spPr>
          <a:xfrm>
            <a:off x="4334256" y="2728570"/>
            <a:ext cx="841248" cy="1431950"/>
          </a:xfrm>
          <a:prstGeom prst="rect">
            <a:avLst/>
          </a:prstGeom>
          <a:solidFill>
            <a:srgbClr val="0F766E"/>
          </a:solidFill>
          <a:ln/>
        </p:spPr>
      </p:sp>
      <p:sp>
        <p:nvSpPr>
          <p:cNvPr id="16" name="Text 13"/>
          <p:cNvSpPr/>
          <p:nvPr/>
        </p:nvSpPr>
        <p:spPr>
          <a:xfrm>
            <a:off x="4023360" y="2417674"/>
            <a:ext cx="1463040" cy="27432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+5.22</a:t>
            </a:r>
            <a:endParaRPr lang="en-US" sz="1300" dirty="0"/>
          </a:p>
        </p:txBody>
      </p:sp>
      <p:sp>
        <p:nvSpPr>
          <p:cNvPr id="17" name="Text 14"/>
          <p:cNvSpPr/>
          <p:nvPr/>
        </p:nvSpPr>
        <p:spPr>
          <a:xfrm>
            <a:off x="3886200" y="4983480"/>
            <a:ext cx="1737360" cy="640080"/>
          </a:xfrm>
          <a:prstGeom prst="rect">
            <a:avLst/>
          </a:prstGeom>
          <a:noFill/>
          <a:ln/>
        </p:spPr>
        <p:txBody>
          <a:bodyPr wrap="square" lIns="0" tIns="0" rIns="0" bIns="0" rtlCol="0" anchor="t"/>
          <a:lstStyle/>
          <a:p>
            <a:pPr algn="ctr" indent="0" marL="0">
              <a:buNone/>
            </a:pPr>
            <a:r>
              <a:rPr lang="en-US" sz="1150" b="1" dirty="0">
                <a:solidFill>
                  <a:srgbClr val="0F2440"/>
                </a:solidFill>
                <a:latin typeface="Calibri" pitchFamily="34" charset="0"/>
                <a:ea typeface="Calibri" pitchFamily="34" charset="-122"/>
                <a:cs typeface="Calibri" pitchFamily="34" charset="-120"/>
              </a:rPr>
              <a:t>P3 · reversal</a:t>
            </a:r>
            <a:endParaRPr lang="en-US" sz="1150" dirty="0"/>
          </a:p>
          <a:p>
            <a:pPr algn="ctr" indent="0" marL="0">
              <a:buNone/>
            </a:pPr>
            <a:r>
              <a:rPr lang="en-US" sz="1050" dirty="0">
                <a:solidFill>
                  <a:srgbClr val="64748B"/>
                </a:solidFill>
                <a:latin typeface="Calibri" pitchFamily="34" charset="0"/>
                <a:ea typeface="Calibri" pitchFamily="34" charset="-122"/>
                <a:cs typeface="Calibri" pitchFamily="34" charset="-120"/>
              </a:rPr>
              <a:t>p ≈ 0.004</a:t>
            </a:r>
            <a:endParaRPr lang="en-US" sz="1150" dirty="0"/>
          </a:p>
        </p:txBody>
      </p:sp>
      <p:sp>
        <p:nvSpPr>
          <p:cNvPr id="18" name="Shape 15"/>
          <p:cNvSpPr/>
          <p:nvPr/>
        </p:nvSpPr>
        <p:spPr>
          <a:xfrm>
            <a:off x="5797296" y="3877970"/>
            <a:ext cx="841248" cy="282550"/>
          </a:xfrm>
          <a:prstGeom prst="rect">
            <a:avLst/>
          </a:prstGeom>
          <a:solidFill>
            <a:srgbClr val="0F766E"/>
          </a:solidFill>
          <a:ln/>
        </p:spPr>
      </p:sp>
      <p:sp>
        <p:nvSpPr>
          <p:cNvPr id="19" name="Text 16"/>
          <p:cNvSpPr/>
          <p:nvPr/>
        </p:nvSpPr>
        <p:spPr>
          <a:xfrm>
            <a:off x="5486400" y="3567074"/>
            <a:ext cx="1463040" cy="27432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+1.03</a:t>
            </a:r>
            <a:endParaRPr lang="en-US" sz="1300" dirty="0"/>
          </a:p>
        </p:txBody>
      </p:sp>
      <p:sp>
        <p:nvSpPr>
          <p:cNvPr id="20" name="Text 17"/>
          <p:cNvSpPr/>
          <p:nvPr/>
        </p:nvSpPr>
        <p:spPr>
          <a:xfrm>
            <a:off x="5349240" y="4983480"/>
            <a:ext cx="1737360" cy="640080"/>
          </a:xfrm>
          <a:prstGeom prst="rect">
            <a:avLst/>
          </a:prstGeom>
          <a:noFill/>
          <a:ln/>
        </p:spPr>
        <p:txBody>
          <a:bodyPr wrap="square" lIns="0" tIns="0" rIns="0" bIns="0" rtlCol="0" anchor="t"/>
          <a:lstStyle/>
          <a:p>
            <a:pPr algn="ctr" indent="0" marL="0">
              <a:buNone/>
            </a:pPr>
            <a:r>
              <a:rPr lang="en-US" sz="1150" b="1" dirty="0">
                <a:solidFill>
                  <a:srgbClr val="0F2440"/>
                </a:solidFill>
                <a:latin typeface="Calibri" pitchFamily="34" charset="0"/>
                <a:ea typeface="Calibri" pitchFamily="34" charset="-122"/>
                <a:cs typeface="Calibri" pitchFamily="34" charset="-120"/>
              </a:rPr>
              <a:t>P4 · small-signal</a:t>
            </a:r>
            <a:endParaRPr lang="en-US" sz="1150" dirty="0"/>
          </a:p>
          <a:p>
            <a:pPr algn="ctr" indent="0" marL="0">
              <a:buNone/>
            </a:pPr>
            <a:r>
              <a:rPr lang="en-US" sz="1050" dirty="0">
                <a:solidFill>
                  <a:srgbClr val="64748B"/>
                </a:solidFill>
                <a:latin typeface="Calibri" pitchFamily="34" charset="0"/>
                <a:ea typeface="Calibri" pitchFamily="34" charset="-122"/>
                <a:cs typeface="Calibri" pitchFamily="34" charset="-120"/>
              </a:rPr>
              <a:t>p ≈ 0.004</a:t>
            </a:r>
            <a:endParaRPr lang="en-US" sz="1150" dirty="0"/>
          </a:p>
        </p:txBody>
      </p:sp>
      <p:sp>
        <p:nvSpPr>
          <p:cNvPr id="21" name="Shape 18"/>
          <p:cNvSpPr/>
          <p:nvPr/>
        </p:nvSpPr>
        <p:spPr>
          <a:xfrm>
            <a:off x="7635240" y="2121408"/>
            <a:ext cx="3913632" cy="3429000"/>
          </a:xfrm>
          <a:prstGeom prst="roundRect">
            <a:avLst>
              <a:gd name="adj" fmla="val 1867"/>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22" name="Text 19"/>
          <p:cNvSpPr/>
          <p:nvPr/>
        </p:nvSpPr>
        <p:spPr>
          <a:xfrm>
            <a:off x="7836408" y="2267712"/>
            <a:ext cx="3511296" cy="365760"/>
          </a:xfrm>
          <a:prstGeom prst="rect">
            <a:avLst/>
          </a:prstGeom>
          <a:noFill/>
          <a:ln/>
        </p:spPr>
        <p:txBody>
          <a:bodyPr wrap="square" lIns="0" tIns="0" rIns="0" bIns="0" rtlCol="0" anchor="ctr"/>
          <a:lstStyle/>
          <a:p>
            <a:pPr algn="l" indent="0" marL="0">
              <a:buNone/>
            </a:pPr>
            <a:r>
              <a:rPr lang="en-US" sz="1350" b="1" dirty="0">
                <a:solidFill>
                  <a:srgbClr val="0F2440"/>
                </a:solidFill>
                <a:latin typeface="Trebuchet MS" pitchFamily="34" charset="0"/>
                <a:ea typeface="Trebuchet MS" pitchFamily="34" charset="-122"/>
                <a:cs typeface="Trebuchet MS" pitchFamily="34" charset="-120"/>
              </a:rPr>
              <a:t>Pre-registered &amp; fair</a:t>
            </a:r>
            <a:endParaRPr lang="en-US" sz="1350" dirty="0"/>
          </a:p>
        </p:txBody>
      </p:sp>
      <p:sp>
        <p:nvSpPr>
          <p:cNvPr id="23" name="Text 20"/>
          <p:cNvSpPr/>
          <p:nvPr/>
        </p:nvSpPr>
        <p:spPr>
          <a:xfrm>
            <a:off x="7854696" y="2688336"/>
            <a:ext cx="3474720" cy="2734056"/>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SHA-256 of metrics + success criteria committed before any trial</a:t>
            </a:r>
            <a:endParaRPr lang="en-US" sz="1250" dirty="0"/>
          </a:p>
          <a:p>
            <a:pPr marL="152400" indent="-1524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Fairness gate: cascade RMS PWM ≤ 1.5× baseline — no winning by hammering harder</a:t>
            </a:r>
            <a:endParaRPr lang="en-US" sz="1250" dirty="0"/>
          </a:p>
          <a:p>
            <a:pPr marL="152400" indent="-1524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 = 8 paired trials per profile · 64 trials total</a:t>
            </a:r>
            <a:endParaRPr lang="en-US" sz="1250" dirty="0"/>
          </a:p>
          <a:p>
            <a:pPr marL="152400" indent="-1524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All four 95% CIs exclude zero — three positive (wins), P2 negative (the one loss)</a:t>
            </a:r>
            <a:endParaRPr lang="en-US" sz="1250" dirty="0"/>
          </a:p>
        </p:txBody>
      </p:sp>
      <p:sp>
        <p:nvSpPr>
          <p:cNvPr id="24" name="Text 21"/>
          <p:cNvSpPr/>
          <p:nvPr/>
        </p:nvSpPr>
        <p:spPr>
          <a:xfrm>
            <a:off x="640080" y="5870448"/>
            <a:ext cx="10908792" cy="5029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Cascade wins by 1–5 rpm on stepwise profiles; loses by ~1 rpm on the slow ramp through the deadzone — </a:t>
            </a:r>
            <a:pPr indent="0" marL="0">
              <a:buNone/>
            </a:pPr>
            <a:r>
              <a:rPr lang="en-US" sz="1300" b="1" i="1" dirty="0">
                <a:solidFill>
                  <a:srgbClr val="0F2440"/>
                </a:solidFill>
                <a:latin typeface="Calibri" pitchFamily="34" charset="0"/>
                <a:ea typeface="Calibri" pitchFamily="34" charset="-122"/>
                <a:cs typeface="Calibri" pitchFamily="34" charset="-120"/>
              </a:rPr>
              <a:t>the “wins universally” hypothesis is falsified, specifically.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0F766E"/>
                </a:solidFill>
                <a:latin typeface="Trebuchet MS" pitchFamily="34" charset="0"/>
                <a:ea typeface="Trebuchet MS" pitchFamily="34" charset="-122"/>
                <a:cs typeface="Trebuchet MS" pitchFamily="34" charset="-120"/>
              </a:rPr>
              <a:t>CLOSED-LOOP TEST · 2 OF 2</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The one loss has an identified cause — and a concrete fix.</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7" name="Text 4"/>
          <p:cNvSpPr/>
          <p:nvPr/>
        </p:nvSpPr>
        <p:spPr>
          <a:xfrm>
            <a:off x="640080" y="2103120"/>
            <a:ext cx="5212080" cy="2240280"/>
          </a:xfrm>
          <a:prstGeom prst="rect">
            <a:avLst/>
          </a:prstGeom>
          <a:noFill/>
          <a:ln/>
        </p:spPr>
        <p:txBody>
          <a:bodyPr wrap="square" lIns="0" tIns="0" rIns="0" bIns="0" rtlCol="0" anchor="t"/>
          <a:lstStyle/>
          <a:p>
            <a:pPr indent="0" marL="0">
              <a:spcAft>
                <a:spcPts val="900"/>
              </a:spcAft>
              <a:buNone/>
            </a:pPr>
            <a:r>
              <a:rPr lang="en-US" sz="1350" dirty="0">
                <a:solidFill>
                  <a:srgbClr val="1E293B"/>
                </a:solidFill>
                <a:latin typeface="Calibri" pitchFamily="34" charset="0"/>
                <a:ea typeface="Calibri" pitchFamily="34" charset="-122"/>
                <a:cs typeface="Calibri" pitchFamily="34" charset="-120"/>
              </a:rPr>
              <a:t>1.   The feedforward inverts the static block → it inherits the slope discontinuity at breakaway.</a:t>
            </a:r>
            <a:endParaRPr lang="en-US" sz="1350" dirty="0"/>
          </a:p>
          <a:p>
            <a:pPr indent="0" marL="0">
              <a:spcAft>
                <a:spcPts val="900"/>
              </a:spcAft>
              <a:buNone/>
            </a:pPr>
            <a:r>
              <a:rPr lang="en-US" sz="1350" dirty="0">
                <a:solidFill>
                  <a:srgbClr val="1E293B"/>
                </a:solidFill>
                <a:latin typeface="Calibri" pitchFamily="34" charset="0"/>
                <a:ea typeface="Calibri" pitchFamily="34" charset="-122"/>
                <a:cs typeface="Calibri" pitchFamily="34" charset="-120"/>
              </a:rPr>
              <a:t>2.   On steps that must cross the deadzone fast, that jump is helpful → P1, P3, P4 win.</a:t>
            </a:r>
            <a:endParaRPr lang="en-US" sz="1350" dirty="0"/>
          </a:p>
          <a:p>
            <a:pPr indent="0" marL="0">
              <a:spcAft>
                <a:spcPts val="900"/>
              </a:spcAft>
              <a:buNone/>
            </a:pPr>
            <a:r>
              <a:rPr lang="en-US" sz="1350" dirty="0">
                <a:solidFill>
                  <a:srgbClr val="1E293B"/>
                </a:solidFill>
                <a:latin typeface="Calibri" pitchFamily="34" charset="0"/>
                <a:ea typeface="Calibri" pitchFamily="34" charset="-122"/>
                <a:cs typeface="Calibri" pitchFamily="34" charset="-120"/>
              </a:rPr>
              <a:t>3.   On a slow ramp it injects step-like PWM → ≈55 rpm reverse overshoot at the zero crossing.</a:t>
            </a:r>
            <a:endParaRPr lang="en-US" sz="1350" dirty="0"/>
          </a:p>
          <a:p>
            <a:pPr indent="0" marL="0">
              <a:buNone/>
            </a:pPr>
            <a:r>
              <a:rPr lang="en-US" sz="1350" dirty="0">
                <a:solidFill>
                  <a:srgbClr val="1E293B"/>
                </a:solidFill>
                <a:latin typeface="Calibri" pitchFamily="34" charset="0"/>
                <a:ea typeface="Calibri" pitchFamily="34" charset="-122"/>
                <a:cs typeface="Calibri" pitchFamily="34" charset="-120"/>
              </a:rPr>
              <a:t>4.   That breaks the smooth signal a plain PI integrator would give → P2 loses.</a:t>
            </a:r>
            <a:endParaRPr lang="en-US" sz="1350" dirty="0"/>
          </a:p>
        </p:txBody>
      </p:sp>
      <p:sp>
        <p:nvSpPr>
          <p:cNvPr id="8" name="Shape 5"/>
          <p:cNvSpPr/>
          <p:nvPr/>
        </p:nvSpPr>
        <p:spPr>
          <a:xfrm>
            <a:off x="640080" y="4434840"/>
            <a:ext cx="5212080" cy="914400"/>
          </a:xfrm>
          <a:prstGeom prst="roundRect">
            <a:avLst>
              <a:gd name="adj" fmla="val 7000"/>
            </a:avLst>
          </a:prstGeom>
          <a:solidFill>
            <a:srgbClr val="D6F0EC"/>
          </a:solidFill>
          <a:ln w="12700">
            <a:solidFill>
              <a:srgbClr val="0F766E"/>
            </a:solidFill>
            <a:prstDash val="solid"/>
          </a:ln>
          <a:effectLst>
            <a:outerShdw sx="100000" sy="100000" kx="0" ky="0" algn="bl" rotWithShape="0" blurRad="88900" dist="38100" dir="8100000">
              <a:srgbClr val="0F2440">
                <a:alpha val="12000"/>
              </a:srgbClr>
            </a:outerShdw>
          </a:effectLst>
        </p:spPr>
      </p:sp>
      <p:sp>
        <p:nvSpPr>
          <p:cNvPr id="9" name="Text 6"/>
          <p:cNvSpPr/>
          <p:nvPr/>
        </p:nvSpPr>
        <p:spPr>
          <a:xfrm>
            <a:off x="841248" y="4434840"/>
            <a:ext cx="4809744" cy="914400"/>
          </a:xfrm>
          <a:prstGeom prst="rect">
            <a:avLst/>
          </a:prstGeom>
          <a:noFill/>
          <a:ln/>
        </p:spPr>
        <p:txBody>
          <a:bodyPr wrap="square" lIns="0" tIns="0" rIns="0" bIns="0" rtlCol="0" anchor="ctr"/>
          <a:lstStyle/>
          <a:p>
            <a:pPr indent="0" marL="0">
              <a:buNone/>
            </a:pPr>
            <a:r>
              <a:rPr lang="en-US" sz="1350" b="1" dirty="0">
                <a:solidFill>
                  <a:srgbClr val="0F766E"/>
                </a:solidFill>
                <a:latin typeface="Calibri" pitchFamily="34" charset="0"/>
                <a:ea typeface="Calibri" pitchFamily="34" charset="-122"/>
                <a:cs typeface="Calibri" pitchFamily="34" charset="-120"/>
              </a:rPr>
              <a:t>Fix:  </a:t>
            </a:r>
            <a:pPr indent="0" marL="0">
              <a:buNone/>
            </a:pPr>
            <a:r>
              <a:rPr lang="en-US" sz="1350" dirty="0">
                <a:solidFill>
                  <a:srgbClr val="1E293B"/>
                </a:solidFill>
                <a:latin typeface="Calibri" pitchFamily="34" charset="0"/>
                <a:ea typeface="Calibri" pitchFamily="34" charset="-122"/>
                <a:cs typeface="Calibri" pitchFamily="34" charset="-120"/>
              </a:rPr>
              <a:t>a smoothed-feedforward cascade variant — taper through the deadzone instead of stepping. The natural next bench-day target.</a:t>
            </a:r>
            <a:endParaRPr lang="en-US" sz="1350" dirty="0"/>
          </a:p>
        </p:txBody>
      </p:sp>
      <p:sp>
        <p:nvSpPr>
          <p:cNvPr id="10" name="Text 7"/>
          <p:cNvSpPr/>
          <p:nvPr/>
        </p:nvSpPr>
        <p:spPr>
          <a:xfrm>
            <a:off x="640080" y="5486400"/>
            <a:ext cx="5212080" cy="777240"/>
          </a:xfrm>
          <a:prstGeom prst="rect">
            <a:avLst/>
          </a:prstGeom>
          <a:noFill/>
          <a:ln/>
        </p:spPr>
        <p:txBody>
          <a:bodyPr wrap="square" lIns="0" tIns="0" rIns="0" bIns="0" rtlCol="0" anchor="t"/>
          <a:lstStyle/>
          <a:p>
            <a:pPr algn="l" indent="0" marL="0">
              <a:buNone/>
            </a:pPr>
            <a:r>
              <a:rPr lang="en-US" sz="1250" b="1" i="1" dirty="0">
                <a:solidFill>
                  <a:srgbClr val="0F2440"/>
                </a:solidFill>
                <a:latin typeface="Calibri" pitchFamily="34" charset="0"/>
                <a:ea typeface="Calibri" pitchFamily="34" charset="-122"/>
                <a:cs typeface="Calibri" pitchFamily="34" charset="-120"/>
              </a:rPr>
              <a:t>A pre-registered hypothesis, falsified in a mechanistically-identified way that points to a fix, is a result — not a setback.</a:t>
            </a:r>
            <a:endParaRPr lang="en-US" sz="1250" dirty="0"/>
          </a:p>
        </p:txBody>
      </p:sp>
      <p:sp>
        <p:nvSpPr>
          <p:cNvPr id="11" name="Shape 8"/>
          <p:cNvSpPr/>
          <p:nvPr/>
        </p:nvSpPr>
        <p:spPr>
          <a:xfrm>
            <a:off x="6513137" y="1938528"/>
            <a:ext cx="4621646" cy="3803904"/>
          </a:xfrm>
          <a:prstGeom prst="roundRect">
            <a:avLst>
              <a:gd name="adj" fmla="val 962"/>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12" name="Image 0" descr="/Users/piyush/code/System_Identification_DC_Motor/figures/25_p2_zero_crossing_zoom.png">    </p:cNvPr>
          <p:cNvPicPr>
            <a:picLocks noChangeAspect="1"/>
          </p:cNvPicPr>
          <p:nvPr/>
        </p:nvPicPr>
        <p:blipFill>
          <a:blip r:embed="rId1"/>
          <a:stretch>
            <a:fillRect/>
          </a:stretch>
        </p:blipFill>
        <p:spPr>
          <a:xfrm>
            <a:off x="6586289" y="2011680"/>
            <a:ext cx="4475342" cy="3657600"/>
          </a:xfrm>
          <a:prstGeom prst="rect">
            <a:avLst/>
          </a:prstGeom>
        </p:spPr>
      </p:pic>
      <p:sp>
        <p:nvSpPr>
          <p:cNvPr id="13" name="Text 9"/>
          <p:cNvSpPr/>
          <p:nvPr/>
        </p:nvSpPr>
        <p:spPr>
          <a:xfrm>
            <a:off x="6080760" y="5779008"/>
            <a:ext cx="5486400"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Fig 6.3 — at the zero crossing the CASC feedforward steps the PWM and drives a ~55 rpm reverse overshoot (blue); BASE (red) stays smooth.</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B45309"/>
                </a:solidFill>
                <a:latin typeface="Trebuchet MS" pitchFamily="34" charset="0"/>
                <a:ea typeface="Trebuchet MS" pitchFamily="34" charset="-122"/>
                <a:cs typeface="Trebuchet MS" pitchFamily="34" charset="-120"/>
              </a:rPr>
              <a:t>HONESTY</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The limits — stated before you ask.</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2103120"/>
            <a:ext cx="3456432" cy="1627632"/>
          </a:xfrm>
          <a:prstGeom prst="roundRect">
            <a:avLst>
              <a:gd name="adj" fmla="val 3933"/>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8" name="Text 5"/>
          <p:cNvSpPr/>
          <p:nvPr/>
        </p:nvSpPr>
        <p:spPr>
          <a:xfrm>
            <a:off x="822960" y="2231136"/>
            <a:ext cx="3090672" cy="384048"/>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Static map</a:t>
            </a:r>
            <a:endParaRPr lang="en-US" sz="1350" dirty="0"/>
          </a:p>
        </p:txBody>
      </p:sp>
      <p:sp>
        <p:nvSpPr>
          <p:cNvPr id="9" name="Text 6"/>
          <p:cNvSpPr/>
          <p:nvPr/>
        </p:nvSpPr>
        <p:spPr>
          <a:xfrm>
            <a:off x="822960" y="2651760"/>
            <a:ext cx="3090672" cy="96926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One sweep (no run02/03), backed by a 2-point spot-check + implicit cross-validation of the step-response endpoints.</a:t>
            </a:r>
            <a:endParaRPr lang="en-US" sz="1200" dirty="0"/>
          </a:p>
        </p:txBody>
      </p:sp>
      <p:sp>
        <p:nvSpPr>
          <p:cNvPr id="10" name="Shape 7"/>
          <p:cNvSpPr/>
          <p:nvPr/>
        </p:nvSpPr>
        <p:spPr>
          <a:xfrm>
            <a:off x="4366260" y="2103120"/>
            <a:ext cx="3456432" cy="1627632"/>
          </a:xfrm>
          <a:prstGeom prst="roundRect">
            <a:avLst>
              <a:gd name="adj" fmla="val 3933"/>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8"/>
          <p:cNvSpPr/>
          <p:nvPr/>
        </p:nvSpPr>
        <p:spPr>
          <a:xfrm>
            <a:off x="4549140" y="2231136"/>
            <a:ext cx="3090672" cy="384048"/>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Dynamic tables</a:t>
            </a:r>
            <a:endParaRPr lang="en-US" sz="1350" dirty="0"/>
          </a:p>
        </p:txBody>
      </p:sp>
      <p:sp>
        <p:nvSpPr>
          <p:cNvPr id="12" name="Text 9"/>
          <p:cNvSpPr/>
          <p:nvPr/>
        </p:nvSpPr>
        <p:spPr>
          <a:xfrm>
            <a:off x="4549140" y="2651760"/>
            <a:ext cx="3090672" cy="96926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An honestly-labelled two-session composite — the bathtub and target-dependence pictures need both sessions.</a:t>
            </a:r>
            <a:endParaRPr lang="en-US" sz="1200" dirty="0"/>
          </a:p>
        </p:txBody>
      </p:sp>
      <p:sp>
        <p:nvSpPr>
          <p:cNvPr id="13" name="Shape 10"/>
          <p:cNvSpPr/>
          <p:nvPr/>
        </p:nvSpPr>
        <p:spPr>
          <a:xfrm>
            <a:off x="8092440" y="2103120"/>
            <a:ext cx="3456432" cy="1627632"/>
          </a:xfrm>
          <a:prstGeom prst="roundRect">
            <a:avLst>
              <a:gd name="adj" fmla="val 3933"/>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4" name="Text 11"/>
          <p:cNvSpPr/>
          <p:nvPr/>
        </p:nvSpPr>
        <p:spPr>
          <a:xfrm>
            <a:off x="8275320" y="2231136"/>
            <a:ext cx="3090672" cy="384048"/>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FOPDT fits</a:t>
            </a:r>
            <a:endParaRPr lang="en-US" sz="1350" dirty="0"/>
          </a:p>
        </p:txBody>
      </p:sp>
      <p:sp>
        <p:nvSpPr>
          <p:cNvPr id="15" name="Text 12"/>
          <p:cNvSpPr/>
          <p:nvPr/>
        </p:nvSpPr>
        <p:spPr>
          <a:xfrm>
            <a:off x="8275320" y="2651760"/>
            <a:ext cx="3090672" cy="96926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Effective at the operating-point extremes &amp; coast-to-rest (friction-dominated); </a:t>
            </a:r>
            <a:pPr indent="0" marL="0">
              <a:buNone/>
            </a:pPr>
            <a:r>
              <a:rPr lang="en-US" sz="1200" dirty="0">
                <a:solidFill>
                  <a:srgbClr val="1E293B"/>
                </a:solidFill>
                <a:latin typeface="Calibri" pitchFamily="34" charset="0"/>
                <a:ea typeface="Calibri" pitchFamily="34" charset="-122"/>
                <a:cs typeface="Calibri" pitchFamily="34" charset="-120"/>
              </a:rPr>
              <a:t>T</a:t>
            </a:r>
            <a:pPr indent="0" marL="0">
              <a:buNone/>
            </a:pPr>
            <a:r>
              <a:rPr lang="en-US" sz="1200" baseline="-40000" dirty="0">
                <a:solidFill>
                  <a:srgbClr val="1E293B"/>
                </a:solidFill>
                <a:latin typeface="Calibri" pitchFamily="34" charset="0"/>
                <a:ea typeface="Calibri" pitchFamily="34" charset="-122"/>
                <a:cs typeface="Calibri" pitchFamily="34" charset="-120"/>
              </a:rPr>
              <a:t>d</a:t>
            </a:r>
            <a:pPr indent="0" marL="0">
              <a:buNone/>
            </a:pPr>
            <a:r>
              <a:rPr lang="en-US" sz="1200" dirty="0">
                <a:solidFill>
                  <a:srgbClr val="1E293B"/>
                </a:solidFill>
                <a:latin typeface="Calibri" pitchFamily="34" charset="0"/>
                <a:ea typeface="Calibri" pitchFamily="34" charset="-122"/>
                <a:cs typeface="Calibri" pitchFamily="34" charset="-120"/>
              </a:rPr>
              <a:t> is an effective parameter, not physical latency.</a:t>
            </a:r>
            <a:endParaRPr lang="en-US" sz="1200" dirty="0"/>
          </a:p>
        </p:txBody>
      </p:sp>
      <p:sp>
        <p:nvSpPr>
          <p:cNvPr id="16" name="Shape 13"/>
          <p:cNvSpPr/>
          <p:nvPr/>
        </p:nvSpPr>
        <p:spPr>
          <a:xfrm>
            <a:off x="640080" y="3886200"/>
            <a:ext cx="3456432" cy="1627632"/>
          </a:xfrm>
          <a:prstGeom prst="roundRect">
            <a:avLst>
              <a:gd name="adj" fmla="val 3933"/>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7" name="Text 14"/>
          <p:cNvSpPr/>
          <p:nvPr/>
        </p:nvSpPr>
        <p:spPr>
          <a:xfrm>
            <a:off x="822960" y="4014216"/>
            <a:ext cx="3090672" cy="384048"/>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Validation scope</a:t>
            </a:r>
            <a:endParaRPr lang="en-US" sz="1350" dirty="0"/>
          </a:p>
        </p:txBody>
      </p:sp>
      <p:sp>
        <p:nvSpPr>
          <p:cNvPr id="18" name="Text 15"/>
          <p:cNvSpPr/>
          <p:nvPr/>
        </p:nvSpPr>
        <p:spPr>
          <a:xfrm>
            <a:off x="822960" y="4434840"/>
            <a:ext cx="3090672" cy="96926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Interpolation within the calibration grid only — not extrapolation, not uncorrected cross-session prediction.</a:t>
            </a:r>
            <a:endParaRPr lang="en-US" sz="1200" dirty="0"/>
          </a:p>
        </p:txBody>
      </p:sp>
      <p:sp>
        <p:nvSpPr>
          <p:cNvPr id="19" name="Shape 16"/>
          <p:cNvSpPr/>
          <p:nvPr/>
        </p:nvSpPr>
        <p:spPr>
          <a:xfrm>
            <a:off x="4366260" y="3886200"/>
            <a:ext cx="3456432" cy="1627632"/>
          </a:xfrm>
          <a:prstGeom prst="roundRect">
            <a:avLst>
              <a:gd name="adj" fmla="val 3933"/>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20" name="Text 17"/>
          <p:cNvSpPr/>
          <p:nvPr/>
        </p:nvSpPr>
        <p:spPr>
          <a:xfrm>
            <a:off x="4549140" y="4014216"/>
            <a:ext cx="3090672" cy="384048"/>
          </a:xfrm>
          <a:prstGeom prst="rect">
            <a:avLst/>
          </a:prstGeom>
          <a:noFill/>
          <a:ln/>
        </p:spPr>
        <p:txBody>
          <a:bodyPr wrap="square" lIns="0" tIns="0" rIns="0" bIns="0" rtlCol="0" anchor="ctr"/>
          <a:lstStyle/>
          <a:p>
            <a:pPr indent="0" marL="0">
              <a:buNone/>
            </a:pPr>
            <a:r>
              <a:rPr lang="en-US" sz="1350" b="1" dirty="0">
                <a:solidFill>
                  <a:srgbClr val="0F2440"/>
                </a:solidFill>
                <a:latin typeface="Trebuchet MS" pitchFamily="34" charset="0"/>
                <a:ea typeface="Trebuchet MS" pitchFamily="34" charset="-122"/>
                <a:cs typeface="Trebuchet MS" pitchFamily="34" charset="-120"/>
              </a:rPr>
              <a:t>One noisy point</a:t>
            </a:r>
            <a:endParaRPr lang="en-US" sz="1350" dirty="0"/>
          </a:p>
        </p:txBody>
      </p:sp>
      <p:sp>
        <p:nvSpPr>
          <p:cNvPr id="21" name="Text 18"/>
          <p:cNvSpPr/>
          <p:nvPr/>
        </p:nvSpPr>
        <p:spPr>
          <a:xfrm>
            <a:off x="4549140" y="4434840"/>
            <a:ext cx="3090672" cy="96926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Reverse 240 → 100 is irreducibly noisy through the deadzone.</a:t>
            </a:r>
            <a:endParaRPr lang="en-US" sz="1200" dirty="0"/>
          </a:p>
        </p:txBody>
      </p:sp>
      <p:sp>
        <p:nvSpPr>
          <p:cNvPr id="22" name="Shape 19"/>
          <p:cNvSpPr/>
          <p:nvPr/>
        </p:nvSpPr>
        <p:spPr>
          <a:xfrm>
            <a:off x="8092440" y="3886200"/>
            <a:ext cx="3456432" cy="1627632"/>
          </a:xfrm>
          <a:prstGeom prst="roundRect">
            <a:avLst>
              <a:gd name="adj" fmla="val 3933"/>
            </a:avLst>
          </a:prstGeom>
          <a:solidFill>
            <a:srgbClr val="D6F0EC"/>
          </a:solidFill>
          <a:ln w="12700">
            <a:solidFill>
              <a:srgbClr val="0F766E"/>
            </a:solidFill>
            <a:prstDash val="solid"/>
          </a:ln>
          <a:effectLst>
            <a:outerShdw sx="100000" sy="100000" kx="0" ky="0" algn="bl" rotWithShape="0" blurRad="88900" dist="38100" dir="8100000">
              <a:srgbClr val="0F2440">
                <a:alpha val="12000"/>
              </a:srgbClr>
            </a:outerShdw>
          </a:effectLst>
        </p:spPr>
      </p:sp>
      <p:sp>
        <p:nvSpPr>
          <p:cNvPr id="23" name="Text 20"/>
          <p:cNvSpPr/>
          <p:nvPr/>
        </p:nvSpPr>
        <p:spPr>
          <a:xfrm>
            <a:off x="8293608" y="3886200"/>
            <a:ext cx="3054096" cy="1627632"/>
          </a:xfrm>
          <a:prstGeom prst="rect">
            <a:avLst/>
          </a:prstGeom>
          <a:noFill/>
          <a:ln/>
        </p:spPr>
        <p:txBody>
          <a:bodyPr wrap="square" lIns="0" tIns="0" rIns="0" bIns="0" rtlCol="0" anchor="ctr"/>
          <a:lstStyle/>
          <a:p>
            <a:pPr algn="l" indent="0" marL="0">
              <a:buNone/>
            </a:pPr>
            <a:r>
              <a:rPr lang="en-US" sz="1300" b="1" dirty="0">
                <a:solidFill>
                  <a:srgbClr val="0F766E"/>
                </a:solidFill>
                <a:latin typeface="Calibri" pitchFamily="34" charset="0"/>
                <a:ea typeface="Calibri" pitchFamily="34" charset="-122"/>
                <a:cs typeface="Calibri" pitchFamily="34" charset="-120"/>
              </a:rPr>
              <a:t>None of this undermines the structural claim. Naming the limits is part of why the model is trustworthy.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440"/>
        </a:solidFill>
      </p:bgPr>
    </p:bg>
    <p:spTree>
      <p:nvGrpSpPr>
        <p:cNvPr id="1" name=""/>
        <p:cNvGrpSpPr/>
        <p:nvPr/>
      </p:nvGrpSpPr>
      <p:grpSpPr>
        <a:xfrm>
          <a:off x="0" y="0"/>
          <a:ext cx="0" cy="0"/>
          <a:chOff x="0" y="0"/>
          <a:chExt cx="0" cy="0"/>
        </a:xfrm>
      </p:grpSpPr>
      <p:sp>
        <p:nvSpPr>
          <p:cNvPr id="2" name="Text 0"/>
          <p:cNvSpPr/>
          <p:nvPr/>
        </p:nvSpPr>
        <p:spPr>
          <a:xfrm>
            <a:off x="640080" y="502920"/>
            <a:ext cx="10908792" cy="292608"/>
          </a:xfrm>
          <a:prstGeom prst="rect">
            <a:avLst/>
          </a:prstGeom>
          <a:noFill/>
          <a:ln/>
        </p:spPr>
        <p:txBody>
          <a:bodyPr wrap="square" lIns="0" tIns="0" rIns="0" bIns="0" rtlCol="0" anchor="ctr"/>
          <a:lstStyle/>
          <a:p>
            <a:pPr indent="0" marL="0">
              <a:buNone/>
            </a:pPr>
            <a:r>
              <a:rPr lang="en-US" sz="1250" b="1" spc="300" kern="0" dirty="0">
                <a:solidFill>
                  <a:srgbClr val="7FA8C9"/>
                </a:solidFill>
                <a:latin typeface="Trebuchet MS" pitchFamily="34" charset="0"/>
                <a:ea typeface="Trebuchet MS" pitchFamily="34" charset="-122"/>
                <a:cs typeface="Trebuchet MS" pitchFamily="34" charset="-120"/>
              </a:rPr>
              <a:t>RECAP &amp; THE ASK</a:t>
            </a:r>
            <a:endParaRPr lang="en-US" sz="1250" dirty="0"/>
          </a:p>
        </p:txBody>
      </p:sp>
      <p:sp>
        <p:nvSpPr>
          <p:cNvPr id="3" name="Text 1"/>
          <p:cNvSpPr/>
          <p:nvPr/>
        </p:nvSpPr>
        <p:spPr>
          <a:xfrm>
            <a:off x="640080" y="868680"/>
            <a:ext cx="10908792"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Five contributions — and one request.</a:t>
            </a:r>
            <a:endParaRPr lang="en-US" sz="2800" dirty="0"/>
          </a:p>
        </p:txBody>
      </p:sp>
      <p:sp>
        <p:nvSpPr>
          <p:cNvPr id="4" name="Shape 2"/>
          <p:cNvSpPr/>
          <p:nvPr/>
        </p:nvSpPr>
        <p:spPr>
          <a:xfrm>
            <a:off x="640080" y="1627632"/>
            <a:ext cx="420624" cy="420624"/>
          </a:xfrm>
          <a:prstGeom prst="ellipse">
            <a:avLst/>
          </a:prstGeom>
          <a:solidFill>
            <a:srgbClr val="0F766E"/>
          </a:solidFill>
          <a:ln/>
        </p:spPr>
      </p:sp>
      <p:sp>
        <p:nvSpPr>
          <p:cNvPr id="5" name="Text 3"/>
          <p:cNvSpPr/>
          <p:nvPr/>
        </p:nvSpPr>
        <p:spPr>
          <a:xfrm>
            <a:off x="640080"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a:t>
            </a:r>
            <a:endParaRPr lang="en-US" sz="1500" dirty="0"/>
          </a:p>
        </p:txBody>
      </p:sp>
      <p:sp>
        <p:nvSpPr>
          <p:cNvPr id="6" name="Text 4"/>
          <p:cNvSpPr/>
          <p:nvPr/>
        </p:nvSpPr>
        <p:spPr>
          <a:xfrm>
            <a:off x="1261872" y="1591056"/>
            <a:ext cx="10268712" cy="502920"/>
          </a:xfrm>
          <a:prstGeom prst="rect">
            <a:avLst/>
          </a:prstGeom>
          <a:noFill/>
          <a:ln/>
        </p:spPr>
        <p:txBody>
          <a:bodyPr wrap="square" lIns="0" tIns="0" rIns="0" bIns="0" rtlCol="0" anchor="ctr"/>
          <a:lstStyle/>
          <a:p>
            <a:pPr indent="0" marL="0">
              <a:buNone/>
            </a:pPr>
            <a:r>
              <a:rPr lang="en-US" sz="1450" dirty="0">
                <a:solidFill>
                  <a:srgbClr val="E6EEF7"/>
                </a:solidFill>
                <a:latin typeface="Calibri" pitchFamily="34" charset="0"/>
                <a:ea typeface="Calibri" pitchFamily="34" charset="-122"/>
                <a:cs typeface="Calibri" pitchFamily="34" charset="-120"/>
              </a:rPr>
              <a:t>An earned cascade — asymmetry &amp; drift in the driver; motor symmetric to 9%, reproducible to 1%.</a:t>
            </a:r>
            <a:endParaRPr lang="en-US" sz="1450" dirty="0"/>
          </a:p>
        </p:txBody>
      </p:sp>
      <p:sp>
        <p:nvSpPr>
          <p:cNvPr id="7" name="Shape 5"/>
          <p:cNvSpPr/>
          <p:nvPr/>
        </p:nvSpPr>
        <p:spPr>
          <a:xfrm>
            <a:off x="640080" y="2231136"/>
            <a:ext cx="420624" cy="420624"/>
          </a:xfrm>
          <a:prstGeom prst="ellipse">
            <a:avLst/>
          </a:prstGeom>
          <a:solidFill>
            <a:srgbClr val="0F766E"/>
          </a:solidFill>
          <a:ln/>
        </p:spPr>
      </p:sp>
      <p:sp>
        <p:nvSpPr>
          <p:cNvPr id="8" name="Text 6"/>
          <p:cNvSpPr/>
          <p:nvPr/>
        </p:nvSpPr>
        <p:spPr>
          <a:xfrm>
            <a:off x="640080" y="22311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2</a:t>
            </a:r>
            <a:endParaRPr lang="en-US" sz="1500" dirty="0"/>
          </a:p>
        </p:txBody>
      </p:sp>
      <p:sp>
        <p:nvSpPr>
          <p:cNvPr id="9" name="Text 7"/>
          <p:cNvSpPr/>
          <p:nvPr/>
        </p:nvSpPr>
        <p:spPr>
          <a:xfrm>
            <a:off x="1261872" y="2194560"/>
            <a:ext cx="10268712" cy="502920"/>
          </a:xfrm>
          <a:prstGeom prst="rect">
            <a:avLst/>
          </a:prstGeom>
          <a:noFill/>
          <a:ln/>
        </p:spPr>
        <p:txBody>
          <a:bodyPr wrap="square" lIns="0" tIns="0" rIns="0" bIns="0" rtlCol="0" anchor="ctr"/>
          <a:lstStyle/>
          <a:p>
            <a:pPr indent="0" marL="0">
              <a:buNone/>
            </a:pPr>
            <a:r>
              <a:rPr lang="en-US" sz="1450" dirty="0">
                <a:solidFill>
                  <a:srgbClr val="E6EEF7"/>
                </a:solidFill>
                <a:latin typeface="Calibri" pitchFamily="34" charset="0"/>
                <a:ea typeface="Calibri" pitchFamily="34" charset="-122"/>
                <a:cs typeface="Calibri" pitchFamily="34" charset="-120"/>
              </a:rPr>
              <a:t>Region-dependent dynamics — a single time constant is misspecified by ~2×.</a:t>
            </a:r>
            <a:endParaRPr lang="en-US" sz="1450" dirty="0"/>
          </a:p>
        </p:txBody>
      </p:sp>
      <p:sp>
        <p:nvSpPr>
          <p:cNvPr id="10" name="Shape 8"/>
          <p:cNvSpPr/>
          <p:nvPr/>
        </p:nvSpPr>
        <p:spPr>
          <a:xfrm>
            <a:off x="640080" y="2834640"/>
            <a:ext cx="420624" cy="420624"/>
          </a:xfrm>
          <a:prstGeom prst="ellipse">
            <a:avLst/>
          </a:prstGeom>
          <a:solidFill>
            <a:srgbClr val="0F766E"/>
          </a:solidFill>
          <a:ln/>
        </p:spPr>
      </p:sp>
      <p:sp>
        <p:nvSpPr>
          <p:cNvPr id="11" name="Text 9"/>
          <p:cNvSpPr/>
          <p:nvPr/>
        </p:nvSpPr>
        <p:spPr>
          <a:xfrm>
            <a:off x="640080" y="2834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3</a:t>
            </a:r>
            <a:endParaRPr lang="en-US" sz="1500" dirty="0"/>
          </a:p>
        </p:txBody>
      </p:sp>
      <p:sp>
        <p:nvSpPr>
          <p:cNvPr id="12" name="Text 10"/>
          <p:cNvSpPr/>
          <p:nvPr/>
        </p:nvSpPr>
        <p:spPr>
          <a:xfrm>
            <a:off x="1261872" y="2798064"/>
            <a:ext cx="10268712" cy="502920"/>
          </a:xfrm>
          <a:prstGeom prst="rect">
            <a:avLst/>
          </a:prstGeom>
          <a:noFill/>
          <a:ln/>
        </p:spPr>
        <p:txBody>
          <a:bodyPr wrap="square" lIns="0" tIns="0" rIns="0" bIns="0" rtlCol="0" anchor="ctr"/>
          <a:lstStyle/>
          <a:p>
            <a:pPr indent="0" marL="0">
              <a:buNone/>
            </a:pPr>
            <a:r>
              <a:rPr lang="en-US" sz="1450" dirty="0">
                <a:solidFill>
                  <a:srgbClr val="E6EEF7"/>
                </a:solidFill>
                <a:latin typeface="Calibri" pitchFamily="34" charset="0"/>
                <a:ea typeface="Calibri" pitchFamily="34" charset="-122"/>
                <a:cs typeface="Calibri" pitchFamily="34" charset="-120"/>
              </a:rPr>
              <a:t>Cross-validation that surfaced — and a warm session confirmed — a cold-start effect.</a:t>
            </a:r>
            <a:endParaRPr lang="en-US" sz="1450" dirty="0"/>
          </a:p>
        </p:txBody>
      </p:sp>
      <p:sp>
        <p:nvSpPr>
          <p:cNvPr id="13" name="Shape 11"/>
          <p:cNvSpPr/>
          <p:nvPr/>
        </p:nvSpPr>
        <p:spPr>
          <a:xfrm>
            <a:off x="640080" y="3438144"/>
            <a:ext cx="420624" cy="420624"/>
          </a:xfrm>
          <a:prstGeom prst="ellipse">
            <a:avLst/>
          </a:prstGeom>
          <a:solidFill>
            <a:srgbClr val="0F766E"/>
          </a:solidFill>
          <a:ln/>
        </p:spPr>
      </p:sp>
      <p:sp>
        <p:nvSpPr>
          <p:cNvPr id="14" name="Text 12"/>
          <p:cNvSpPr/>
          <p:nvPr/>
        </p:nvSpPr>
        <p:spPr>
          <a:xfrm>
            <a:off x="640080" y="34381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4</a:t>
            </a:r>
            <a:endParaRPr lang="en-US" sz="1500" dirty="0"/>
          </a:p>
        </p:txBody>
      </p:sp>
      <p:sp>
        <p:nvSpPr>
          <p:cNvPr id="15" name="Text 13"/>
          <p:cNvSpPr/>
          <p:nvPr/>
        </p:nvSpPr>
        <p:spPr>
          <a:xfrm>
            <a:off x="1261872" y="3401568"/>
            <a:ext cx="10268712" cy="502920"/>
          </a:xfrm>
          <a:prstGeom prst="rect">
            <a:avLst/>
          </a:prstGeom>
          <a:noFill/>
          <a:ln/>
        </p:spPr>
        <p:txBody>
          <a:bodyPr wrap="square" lIns="0" tIns="0" rIns="0" bIns="0" rtlCol="0" anchor="ctr"/>
          <a:lstStyle/>
          <a:p>
            <a:pPr indent="0" marL="0">
              <a:buNone/>
            </a:pPr>
            <a:r>
              <a:rPr lang="en-US" sz="1450" dirty="0">
                <a:solidFill>
                  <a:srgbClr val="E6EEF7"/>
                </a:solidFill>
                <a:latin typeface="Calibri" pitchFamily="34" charset="0"/>
                <a:ea typeface="Calibri" pitchFamily="34" charset="-122"/>
                <a:cs typeface="Calibri" pitchFamily="34" charset="-120"/>
              </a:rPr>
              <a:t>A methodological finding — calibration drifts between sessions; recalibrate in situ.</a:t>
            </a:r>
            <a:endParaRPr lang="en-US" sz="1450" dirty="0"/>
          </a:p>
        </p:txBody>
      </p:sp>
      <p:sp>
        <p:nvSpPr>
          <p:cNvPr id="16" name="Shape 14"/>
          <p:cNvSpPr/>
          <p:nvPr/>
        </p:nvSpPr>
        <p:spPr>
          <a:xfrm>
            <a:off x="640080" y="4041648"/>
            <a:ext cx="420624" cy="420624"/>
          </a:xfrm>
          <a:prstGeom prst="ellipse">
            <a:avLst/>
          </a:prstGeom>
          <a:solidFill>
            <a:srgbClr val="0F766E"/>
          </a:solidFill>
          <a:ln/>
        </p:spPr>
      </p:sp>
      <p:sp>
        <p:nvSpPr>
          <p:cNvPr id="17" name="Text 15"/>
          <p:cNvSpPr/>
          <p:nvPr/>
        </p:nvSpPr>
        <p:spPr>
          <a:xfrm>
            <a:off x="640080" y="40416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5</a:t>
            </a:r>
            <a:endParaRPr lang="en-US" sz="1500" dirty="0"/>
          </a:p>
        </p:txBody>
      </p:sp>
      <p:sp>
        <p:nvSpPr>
          <p:cNvPr id="18" name="Text 16"/>
          <p:cNvSpPr/>
          <p:nvPr/>
        </p:nvSpPr>
        <p:spPr>
          <a:xfrm>
            <a:off x="1261872" y="4005072"/>
            <a:ext cx="10268712" cy="502920"/>
          </a:xfrm>
          <a:prstGeom prst="rect">
            <a:avLst/>
          </a:prstGeom>
          <a:noFill/>
          <a:ln/>
        </p:spPr>
        <p:txBody>
          <a:bodyPr wrap="square" lIns="0" tIns="0" rIns="0" bIns="0" rtlCol="0" anchor="ctr"/>
          <a:lstStyle/>
          <a:p>
            <a:pPr indent="0" marL="0">
              <a:buNone/>
            </a:pPr>
            <a:r>
              <a:rPr lang="en-US" sz="1450" dirty="0">
                <a:solidFill>
                  <a:srgbClr val="E6EEF7"/>
                </a:solidFill>
                <a:latin typeface="Calibri" pitchFamily="34" charset="0"/>
                <a:ea typeface="Calibri" pitchFamily="34" charset="-122"/>
                <a:cs typeface="Calibri" pitchFamily="34" charset="-120"/>
              </a:rPr>
              <a:t>A pre-registered closed-loop test — wins stepwise, loses on ramp-through-deadzone, and localises its own failure.</a:t>
            </a:r>
            <a:endParaRPr lang="en-US" sz="1450" dirty="0"/>
          </a:p>
        </p:txBody>
      </p:sp>
      <p:sp>
        <p:nvSpPr>
          <p:cNvPr id="19" name="Shape 17"/>
          <p:cNvSpPr/>
          <p:nvPr/>
        </p:nvSpPr>
        <p:spPr>
          <a:xfrm>
            <a:off x="640080" y="4864608"/>
            <a:ext cx="10908792" cy="960120"/>
          </a:xfrm>
          <a:prstGeom prst="roundRect">
            <a:avLst>
              <a:gd name="adj" fmla="val 6667"/>
            </a:avLst>
          </a:prstGeom>
          <a:solidFill>
            <a:srgbClr val="0F766E"/>
          </a:solidFill>
          <a:ln/>
        </p:spPr>
      </p:sp>
      <p:sp>
        <p:nvSpPr>
          <p:cNvPr id="20" name="Text 18"/>
          <p:cNvSpPr/>
          <p:nvPr/>
        </p:nvSpPr>
        <p:spPr>
          <a:xfrm>
            <a:off x="914400" y="4864608"/>
            <a:ext cx="10360152" cy="960120"/>
          </a:xfrm>
          <a:prstGeom prst="rect">
            <a:avLst/>
          </a:prstGeom>
          <a:noFill/>
          <a:ln/>
        </p:spPr>
        <p:txBody>
          <a:bodyPr wrap="square" lIns="0" tIns="0" rIns="0" bIns="0" rtlCol="0" anchor="ctr"/>
          <a:lstStyle/>
          <a:p>
            <a:pPr indent="0" marL="0">
              <a:buNone/>
            </a:pPr>
            <a:r>
              <a:rPr lang="en-US" sz="1600" dirty="0">
                <a:solidFill>
                  <a:srgbClr val="EAFBF7"/>
                </a:solidFill>
                <a:latin typeface="Calibri" pitchFamily="34" charset="0"/>
                <a:ea typeface="Calibri" pitchFamily="34" charset="-122"/>
                <a:cs typeface="Calibri" pitchFamily="34" charset="-120"/>
              </a:rPr>
              <a:t>All seven chapters' results are complete and validated within the calibration grid.  </a:t>
            </a:r>
            <a:pPr indent="0" marL="0">
              <a:buNone/>
            </a:pPr>
            <a:r>
              <a:rPr lang="en-US" sz="1600" b="1" dirty="0">
                <a:solidFill>
                  <a:srgbClr val="FFFFFF"/>
                </a:solidFill>
                <a:latin typeface="Calibri" pitchFamily="34" charset="0"/>
                <a:ea typeface="Calibri" pitchFamily="34" charset="-122"/>
                <a:cs typeface="Calibri" pitchFamily="34" charset="-120"/>
              </a:rPr>
              <a:t>I'm requesting approval to proceed to thesis writing.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440"/>
        </a:solidFill>
      </p:bgPr>
    </p:bg>
    <p:spTree>
      <p:nvGrpSpPr>
        <p:cNvPr id="1" name=""/>
        <p:cNvGrpSpPr/>
        <p:nvPr/>
      </p:nvGrpSpPr>
      <p:grpSpPr>
        <a:xfrm>
          <a:off x="0" y="0"/>
          <a:ext cx="0" cy="0"/>
          <a:chOff x="0" y="0"/>
          <a:chExt cx="0" cy="0"/>
        </a:xfrm>
      </p:grpSpPr>
      <p:sp>
        <p:nvSpPr>
          <p:cNvPr id="2" name="Text 0"/>
          <p:cNvSpPr/>
          <p:nvPr/>
        </p:nvSpPr>
        <p:spPr>
          <a:xfrm>
            <a:off x="640080" y="2103120"/>
            <a:ext cx="10908792" cy="365760"/>
          </a:xfrm>
          <a:prstGeom prst="rect">
            <a:avLst/>
          </a:prstGeom>
          <a:noFill/>
          <a:ln/>
        </p:spPr>
        <p:txBody>
          <a:bodyPr wrap="square" lIns="0" tIns="0" rIns="0" bIns="0" rtlCol="0" anchor="ctr"/>
          <a:lstStyle/>
          <a:p>
            <a:pPr indent="0" marL="0">
              <a:buNone/>
            </a:pPr>
            <a:r>
              <a:rPr lang="en-US" sz="1300" b="1" spc="300" kern="0" dirty="0">
                <a:solidFill>
                  <a:srgbClr val="7FA8C9"/>
                </a:solidFill>
                <a:latin typeface="Trebuchet MS" pitchFamily="34" charset="0"/>
                <a:ea typeface="Trebuchet MS" pitchFamily="34" charset="-122"/>
                <a:cs typeface="Trebuchet MS" pitchFamily="34" charset="-120"/>
              </a:rPr>
              <a:t>RESERVE</a:t>
            </a:r>
            <a:endParaRPr lang="en-US" sz="1300" dirty="0"/>
          </a:p>
        </p:txBody>
      </p:sp>
      <p:sp>
        <p:nvSpPr>
          <p:cNvPr id="3" name="Text 1"/>
          <p:cNvSpPr/>
          <p:nvPr/>
        </p:nvSpPr>
        <p:spPr>
          <a:xfrm>
            <a:off x="640080" y="2606040"/>
            <a:ext cx="10908792"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Backup — flip to on demand</a:t>
            </a:r>
            <a:endParaRPr lang="en-US" sz="3400" dirty="0"/>
          </a:p>
        </p:txBody>
      </p:sp>
      <p:sp>
        <p:nvSpPr>
          <p:cNvPr id="4" name="Text 2"/>
          <p:cNvSpPr/>
          <p:nvPr/>
        </p:nvSpPr>
        <p:spPr>
          <a:xfrm>
            <a:off x="640080" y="3657600"/>
            <a:ext cx="10908792" cy="1463040"/>
          </a:xfrm>
          <a:prstGeom prst="rect">
            <a:avLst/>
          </a:prstGeom>
          <a:noFill/>
          <a:ln/>
        </p:spPr>
        <p:txBody>
          <a:bodyPr wrap="square" lIns="0" tIns="0" rIns="0" bIns="0" rtlCol="0" anchor="t"/>
          <a:lstStyle/>
          <a:p>
            <a:pPr marL="152400" indent="-152400">
              <a:spcAft>
                <a:spcPts val="800"/>
              </a:spcAft>
              <a:buSzPct val="100000"/>
              <a:buChar char="•"/>
            </a:pPr>
            <a:r>
              <a:rPr lang="en-US" sz="1500" dirty="0">
                <a:solidFill>
                  <a:srgbClr val="CADCFC"/>
                </a:solidFill>
                <a:latin typeface="Calibri" pitchFamily="34" charset="0"/>
                <a:ea typeface="Calibri" pitchFamily="34" charset="-122"/>
                <a:cs typeface="Calibri" pitchFamily="34" charset="-120"/>
              </a:rPr>
              <a:t>Anticipated questions → where each is already answered</a:t>
            </a:r>
            <a:endParaRPr lang="en-US" sz="1500" dirty="0"/>
          </a:p>
          <a:p>
            <a:pPr marL="152400" indent="-152400">
              <a:spcAft>
                <a:spcPts val="800"/>
              </a:spcAft>
              <a:buSzPct val="100000"/>
              <a:buChar char="•"/>
            </a:pPr>
            <a:r>
              <a:rPr lang="en-US" sz="1500" dirty="0">
                <a:solidFill>
                  <a:srgbClr val="CADCFC"/>
                </a:solidFill>
                <a:latin typeface="Calibri" pitchFamily="34" charset="0"/>
                <a:ea typeface="Calibri" pitchFamily="34" charset="-122"/>
                <a:cs typeface="Calibri" pitchFamily="34" charset="-120"/>
              </a:rPr>
              <a:t>The model ladder on real step responses  (Fig 4.6 / 4.7)</a:t>
            </a:r>
            <a:endParaRPr lang="en-US" sz="1500" dirty="0"/>
          </a:p>
          <a:p>
            <a:pPr marL="152400" indent="-152400">
              <a:buSzPct val="100000"/>
              <a:buChar char="•"/>
            </a:pPr>
            <a:r>
              <a:rPr lang="en-US" sz="1500" dirty="0">
                <a:solidFill>
                  <a:srgbClr val="CADCFC"/>
                </a:solidFill>
                <a:latin typeface="Calibri" pitchFamily="34" charset="0"/>
                <a:ea typeface="Calibri" pitchFamily="34" charset="-122"/>
                <a:cs typeface="Calibri" pitchFamily="34" charset="-120"/>
              </a:rPr>
              <a:t>Closed-loop trajectories &amp; the fairness check  (Fig 6.2)</a:t>
            </a:r>
            <a:endParaRPr lang="en-US" sz="1500" dirty="0"/>
          </a:p>
        </p:txBody>
      </p:sp>
      <p:sp>
        <p:nvSpPr>
          <p:cNvPr id="5" name="Text 3"/>
          <p:cNvSpPr/>
          <p:nvPr/>
        </p:nvSpPr>
        <p:spPr>
          <a:xfrm>
            <a:off x="640080" y="5486400"/>
            <a:ext cx="10908792" cy="365760"/>
          </a:xfrm>
          <a:prstGeom prst="rect">
            <a:avLst/>
          </a:prstGeom>
          <a:noFill/>
          <a:ln/>
        </p:spPr>
        <p:txBody>
          <a:bodyPr wrap="square" lIns="0" tIns="0" rIns="0" bIns="0" rtlCol="0" anchor="ctr"/>
          <a:lstStyle/>
          <a:p>
            <a:pPr indent="0" marL="0">
              <a:buNone/>
            </a:pPr>
            <a:r>
              <a:rPr lang="en-US" sz="1300" i="1" dirty="0">
                <a:solidFill>
                  <a:srgbClr val="7FA8C9"/>
                </a:solidFill>
                <a:latin typeface="Calibri" pitchFamily="34" charset="0"/>
                <a:ea typeface="Calibri" pitchFamily="34" charset="-122"/>
                <a:cs typeface="Calibri" pitchFamily="34" charset="-120"/>
              </a:rPr>
              <a:t>Keep the figure-heavy detail ready; pull it up only when asked.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475569"/>
                </a:solidFill>
                <a:latin typeface="Trebuchet MS" pitchFamily="34" charset="0"/>
                <a:ea typeface="Trebuchet MS" pitchFamily="34" charset="-122"/>
                <a:cs typeface="Trebuchet MS" pitchFamily="34" charset="-120"/>
              </a:rPr>
              <a:t>BACKUP</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Anticipated questions — and where each is already answered.</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08792" cy="914400"/>
        </p:xfrm>
        <a:graphic>
          <a:graphicData uri="http://schemas.openxmlformats.org/drawingml/2006/table">
            <a:tbl>
              <a:tblPr/>
              <a:tblGrid>
                <a:gridCol w="6949440"/>
                <a:gridCol w="395935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Likely question</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0F24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Answered on</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0F2440"/>
                    </a:solidFill>
                  </a:tcPr>
                </a:tc>
              </a:tr>
              <a:tr h="475488">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Why a cascade, not one black-box model?</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Slides 3 &amp; 6 · backup ladder</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How do you know the asymmetry is the driver, not the motor?</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Slides 5 &amp; 6</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Is it reproducible? Did you validate?</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Slides 8 &amp; 12</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Why LOOCV instead of a held-out test set?</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Slide 8 — no held-out set existed</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Why does it lose on P2?</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Slide 11 — FF discontinuity, with the fix</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Why trust the time constants given the drift?</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93B"/>
                          </a:solidFill>
                          <a:latin typeface="Calibri" pitchFamily="34" charset="0"/>
                          <a:ea typeface="Calibri" pitchFamily="34" charset="-122"/>
                          <a:cs typeface="Calibri" pitchFamily="34" charset="-120"/>
                        </a:rPr>
                        <a:t>Slide 9 — drift characterised; recalibrate in situ</a:t>
                      </a:r>
                      <a:endParaRPr lang="en-US" sz="1300" dirty="0">
                        <a:latin typeface="Calibri" charset="0"/>
                        <a:ea typeface="Calibri" charset="0"/>
                        <a:cs typeface="Calibri" charset="0"/>
                      </a:endParaRPr>
                    </a:p>
                  </a:txBody>
                  <a:tcPr marL="76200" marR="76200" marT="38100" marB="38100" anchor="ctr">
                    <a:lnL w="9525" cap="flat" cmpd="sng" algn="ctr">
                      <a:solidFill>
                        <a:srgbClr val="D8E0E8"/>
                      </a:solidFill>
                      <a:prstDash val="solid"/>
                      <a:round/>
                      <a:headEnd type="none" w="med" len="med"/>
                      <a:tailEnd type="none" w="med" len="med"/>
                    </a:lnL>
                    <a:lnR w="9525" cap="flat" cmpd="sng" algn="ctr">
                      <a:solidFill>
                        <a:srgbClr val="D8E0E8"/>
                      </a:solidFill>
                      <a:prstDash val="solid"/>
                      <a:round/>
                      <a:headEnd type="none" w="med" len="med"/>
                      <a:tailEnd type="none" w="med" len="med"/>
                    </a:lnR>
                    <a:lnT w="9525" cap="flat" cmpd="sng" algn="ctr">
                      <a:solidFill>
                        <a:srgbClr val="D8E0E8"/>
                      </a:solidFill>
                      <a:prstDash val="solid"/>
                      <a:round/>
                      <a:headEnd type="none" w="med" len="med"/>
                      <a:tailEnd type="none" w="med" len="med"/>
                    </a:lnT>
                    <a:lnB w="9525" cap="flat" cmpd="sng" algn="ctr">
                      <a:solidFill>
                        <a:srgbClr val="D8E0E8"/>
                      </a:solidFill>
                      <a:prstDash val="solid"/>
                      <a:round/>
                      <a:headEnd type="none" w="med" len="med"/>
                      <a:tailEnd type="none" w="med" len="med"/>
                    </a:lnB>
                    <a:solidFill>
                      <a:srgbClr val="FFFFFF"/>
                    </a:solidFill>
                  </a:tcPr>
                </a:tc>
              </a:tr>
            </a:tbl>
          </a:graphicData>
        </a:graphic>
      </p:graphicFrame>
      <p:sp>
        <p:nvSpPr>
          <p:cNvPr id="8" name="Text 4"/>
          <p:cNvSpPr/>
          <p:nvPr/>
        </p:nvSpPr>
        <p:spPr>
          <a:xfrm>
            <a:off x="640080" y="5806440"/>
            <a:ext cx="10908792" cy="365760"/>
          </a:xfrm>
          <a:prstGeom prst="rect">
            <a:avLst/>
          </a:prstGeom>
          <a:noFill/>
          <a:ln/>
        </p:spPr>
        <p:txBody>
          <a:bodyPr wrap="square" lIns="0" tIns="0" rIns="0" bIns="0" rtlCol="0" anchor="ctr"/>
          <a:lstStyle/>
          <a:p>
            <a:pPr indent="0" marL="0">
              <a:buNone/>
            </a:pPr>
            <a:r>
              <a:rPr lang="en-US" sz="1250" i="1" dirty="0">
                <a:solidFill>
                  <a:srgbClr val="475569"/>
                </a:solidFill>
                <a:latin typeface="Calibri" pitchFamily="34" charset="0"/>
                <a:ea typeface="Calibri" pitchFamily="34" charset="-122"/>
                <a:cs typeface="Calibri" pitchFamily="34" charset="-120"/>
              </a:rPr>
              <a:t>Tip: every “already-in-the-work” question = something shown but not asserted. Flip here, point to the slide.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475569"/>
                </a:solidFill>
                <a:latin typeface="Trebuchet MS" pitchFamily="34" charset="0"/>
                <a:ea typeface="Trebuchet MS" pitchFamily="34" charset="-122"/>
                <a:cs typeface="Trebuchet MS" pitchFamily="34" charset="-120"/>
              </a:rPr>
              <a:t>BACKUP</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The model ladder, on real step responses.</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813917" y="2029968"/>
            <a:ext cx="6510327" cy="4032504"/>
          </a:xfrm>
          <a:prstGeom prst="roundRect">
            <a:avLst>
              <a:gd name="adj" fmla="val 907"/>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8" name="Image 0" descr="/Users/piyush/code/System_Identification_DC_Motor/figures/20_model_ladder_overlay.png">    </p:cNvPr>
          <p:cNvPicPr>
            <a:picLocks noChangeAspect="1"/>
          </p:cNvPicPr>
          <p:nvPr/>
        </p:nvPicPr>
        <p:blipFill>
          <a:blip r:embed="rId1"/>
          <a:stretch>
            <a:fillRect/>
          </a:stretch>
        </p:blipFill>
        <p:spPr>
          <a:xfrm>
            <a:off x="887069" y="2103120"/>
            <a:ext cx="6364023" cy="3886200"/>
          </a:xfrm>
          <a:prstGeom prst="rect">
            <a:avLst/>
          </a:prstGeom>
        </p:spPr>
      </p:pic>
      <p:sp>
        <p:nvSpPr>
          <p:cNvPr id="9" name="Text 5"/>
          <p:cNvSpPr/>
          <p:nvPr/>
        </p:nvSpPr>
        <p:spPr>
          <a:xfrm>
            <a:off x="640080" y="6053328"/>
            <a:ext cx="6858000"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Fig 4.6 — measured vs Model A / B / C on four representative transitions; per-panel RMSE annotated.</a:t>
            </a:r>
            <a:endParaRPr lang="en-US" sz="1050" dirty="0"/>
          </a:p>
        </p:txBody>
      </p:sp>
      <p:sp>
        <p:nvSpPr>
          <p:cNvPr id="10" name="Shape 6"/>
          <p:cNvSpPr/>
          <p:nvPr/>
        </p:nvSpPr>
        <p:spPr>
          <a:xfrm>
            <a:off x="7726680" y="2103120"/>
            <a:ext cx="3822192" cy="3886200"/>
          </a:xfrm>
          <a:prstGeom prst="roundRect">
            <a:avLst>
              <a:gd name="adj" fmla="val 1675"/>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7"/>
          <p:cNvSpPr/>
          <p:nvPr/>
        </p:nvSpPr>
        <p:spPr>
          <a:xfrm>
            <a:off x="7927848" y="2249424"/>
            <a:ext cx="3419856" cy="365760"/>
          </a:xfrm>
          <a:prstGeom prst="rect">
            <a:avLst/>
          </a:prstGeom>
          <a:noFill/>
          <a:ln/>
        </p:spPr>
        <p:txBody>
          <a:bodyPr wrap="square" lIns="0" tIns="0" rIns="0" bIns="0" rtlCol="0" anchor="ctr"/>
          <a:lstStyle/>
          <a:p>
            <a:pPr algn="l" indent="0" marL="0">
              <a:buNone/>
            </a:pPr>
            <a:r>
              <a:rPr lang="en-US" sz="1350" b="1" dirty="0">
                <a:solidFill>
                  <a:srgbClr val="0F2440"/>
                </a:solidFill>
                <a:latin typeface="Trebuchet MS" pitchFamily="34" charset="0"/>
                <a:ea typeface="Trebuchet MS" pitchFamily="34" charset="-122"/>
                <a:cs typeface="Trebuchet MS" pitchFamily="34" charset="-120"/>
              </a:rPr>
              <a:t>Why C earns its complexity</a:t>
            </a:r>
            <a:endParaRPr lang="en-US" sz="1350" dirty="0"/>
          </a:p>
        </p:txBody>
      </p:sp>
      <p:sp>
        <p:nvSpPr>
          <p:cNvPr id="12" name="Text 8"/>
          <p:cNvSpPr/>
          <p:nvPr/>
        </p:nvSpPr>
        <p:spPr>
          <a:xfrm>
            <a:off x="7946136" y="2670048"/>
            <a:ext cx="3383280" cy="3191256"/>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Model A reaches the wrong level and rises with the wrong shape.</a:t>
            </a:r>
            <a:endParaRPr lang="en-US" sz="1300" dirty="0"/>
          </a:p>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Model B fixes the level but keeps one global τ.</a:t>
            </a:r>
            <a:endParaRPr lang="en-US" sz="1300" dirty="0"/>
          </a:p>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Model C tracks both level and transient in every panel.</a:t>
            </a:r>
            <a:endParaRPr lang="en-US" sz="1300" dirty="0"/>
          </a:p>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Per-panel RMSE (annotated) drops monotonically A → B → C.</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475569"/>
                </a:solidFill>
                <a:latin typeface="Trebuchet MS" pitchFamily="34" charset="0"/>
                <a:ea typeface="Trebuchet MS" pitchFamily="34" charset="-122"/>
                <a:cs typeface="Trebuchet MS" pitchFamily="34" charset="-120"/>
              </a:rPr>
              <a:t>BACKUP</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A/B/C scoreboard — Model C wins every direction × region group.</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1450436" y="2121408"/>
            <a:ext cx="9288080" cy="3392424"/>
          </a:xfrm>
          <a:prstGeom prst="roundRect">
            <a:avLst>
              <a:gd name="adj" fmla="val 1078"/>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8" name="Image 0" descr="/Users/piyush/code/System_Identification_DC_Motor/figures/21_model_ladder_scoreboard.png">    </p:cNvPr>
          <p:cNvPicPr>
            <a:picLocks noChangeAspect="1"/>
          </p:cNvPicPr>
          <p:nvPr/>
        </p:nvPicPr>
        <p:blipFill>
          <a:blip r:embed="rId1"/>
          <a:stretch>
            <a:fillRect/>
          </a:stretch>
        </p:blipFill>
        <p:spPr>
          <a:xfrm>
            <a:off x="1523588" y="2194560"/>
            <a:ext cx="9141776" cy="3246120"/>
          </a:xfrm>
          <a:prstGeom prst="rect">
            <a:avLst/>
          </a:prstGeom>
        </p:spPr>
      </p:pic>
      <p:sp>
        <p:nvSpPr>
          <p:cNvPr id="9" name="Text 5"/>
          <p:cNvSpPr/>
          <p:nvPr/>
        </p:nvSpPr>
        <p:spPr>
          <a:xfrm>
            <a:off x="640080" y="5532120"/>
            <a:ext cx="10908792"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Fig 4.7 — left: post-step RMSE (lower = better); right: FIT% (higher = better, Model A clipped at −50). Model C is best in all four groups on both metrics.</a:t>
            </a:r>
            <a:endParaRPr lang="en-US" sz="1050" dirty="0"/>
          </a:p>
        </p:txBody>
      </p:sp>
      <p:sp>
        <p:nvSpPr>
          <p:cNvPr id="10" name="Text 6"/>
          <p:cNvSpPr/>
          <p:nvPr/>
        </p:nvSpPr>
        <p:spPr>
          <a:xfrm>
            <a:off x="640080" y="5943600"/>
            <a:ext cx="10908792" cy="365760"/>
          </a:xfrm>
          <a:prstGeom prst="rect">
            <a:avLst/>
          </a:prstGeom>
          <a:noFill/>
          <a:ln/>
        </p:spPr>
        <p:txBody>
          <a:bodyPr wrap="square" lIns="0" tIns="0" rIns="0" bIns="0" rtlCol="0" anchor="ctr"/>
          <a:lstStyle/>
          <a:p>
            <a:pPr algn="ctr" indent="0" marL="0">
              <a:buNone/>
            </a:pPr>
            <a:r>
              <a:rPr lang="en-US" sz="1250" i="1" dirty="0">
                <a:solidFill>
                  <a:srgbClr val="475569"/>
                </a:solidFill>
                <a:latin typeface="Calibri" pitchFamily="34" charset="0"/>
                <a:ea typeface="Calibri" pitchFamily="34" charset="-122"/>
                <a:cs typeface="Calibri" pitchFamily="34" charset="-120"/>
              </a:rPr>
              <a:t>The static block (A → B) is the big jump; region-dependent τ (B → C) is the consistent finisher.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algn="l" indent="0" marL="0">
              <a:buNone/>
            </a:pPr>
            <a:r>
              <a:rPr lang="en-US" sz="1250" b="1" spc="300" kern="0" dirty="0">
                <a:solidFill>
                  <a:srgbClr val="475569"/>
                </a:solidFill>
                <a:latin typeface="Trebuchet MS" pitchFamily="34" charset="0"/>
                <a:ea typeface="Trebuchet MS" pitchFamily="34" charset="-122"/>
                <a:cs typeface="Trebuchet MS" pitchFamily="34" charset="-120"/>
              </a:rPr>
              <a:t>BACKUP</a:t>
            </a:r>
            <a:endParaRPr lang="en-US" sz="1250" dirty="0"/>
          </a:p>
        </p:txBody>
      </p:sp>
      <p:sp>
        <p:nvSpPr>
          <p:cNvPr id="3" name="Text 1"/>
          <p:cNvSpPr/>
          <p:nvPr/>
        </p:nvSpPr>
        <p:spPr>
          <a:xfrm>
            <a:off x="640080" y="822960"/>
            <a:ext cx="10908792" cy="1078992"/>
          </a:xfrm>
          <a:prstGeom prst="rect">
            <a:avLst/>
          </a:prstGeom>
          <a:noFill/>
          <a:ln/>
        </p:spPr>
        <p:txBody>
          <a:bodyPr wrap="square" lIns="0" tIns="0" rIns="0" bIns="0" rtlCol="0" anchor="t"/>
          <a:lstStyle/>
          <a:p>
            <a:pPr algn="l" indent="0" marL="0">
              <a:buNone/>
            </a:pPr>
            <a:r>
              <a:rPr lang="en-US" sz="2800" b="1" dirty="0">
                <a:solidFill>
                  <a:srgbClr val="0F2440"/>
                </a:solidFill>
                <a:latin typeface="Trebuchet MS" pitchFamily="34" charset="0"/>
                <a:ea typeface="Trebuchet MS" pitchFamily="34" charset="-122"/>
                <a:cs typeface="Trebuchet MS" pitchFamily="34" charset="-120"/>
              </a:rPr>
              <a:t>Closed-loop trajectories and the fairness check.</a:t>
            </a:r>
            <a:endParaRPr lang="en-US" sz="2800" dirty="0"/>
          </a:p>
        </p:txBody>
      </p:sp>
      <p:sp>
        <p:nvSpPr>
          <p:cNvPr id="4" name="Text 2"/>
          <p:cNvSpPr/>
          <p:nvPr/>
        </p:nvSpPr>
        <p:spPr>
          <a:xfrm>
            <a:off x="640080" y="6437376"/>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System Identification of a DC Gearmotor &amp; L298N Driver</a:t>
            </a:r>
            <a:endParaRPr lang="en-US" sz="900" dirty="0"/>
          </a:p>
        </p:txBody>
      </p:sp>
      <p:sp>
        <p:nvSpPr>
          <p:cNvPr id="5" name="Text 3"/>
          <p:cNvSpPr/>
          <p:nvPr/>
        </p:nvSpPr>
        <p:spPr>
          <a:xfrm>
            <a:off x="11000232" y="6437376"/>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1088898" y="2029968"/>
            <a:ext cx="4680204" cy="4032504"/>
          </a:xfrm>
          <a:prstGeom prst="roundRect">
            <a:avLst>
              <a:gd name="adj" fmla="val 907"/>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pic>
        <p:nvPicPr>
          <p:cNvPr id="8" name="Image 0" descr="/Users/piyush/code/System_Identification_DC_Motor/figures/24_closed_loop_trajectories.png">    </p:cNvPr>
          <p:cNvPicPr>
            <a:picLocks noChangeAspect="1"/>
          </p:cNvPicPr>
          <p:nvPr/>
        </p:nvPicPr>
        <p:blipFill>
          <a:blip r:embed="rId1"/>
          <a:stretch>
            <a:fillRect/>
          </a:stretch>
        </p:blipFill>
        <p:spPr>
          <a:xfrm>
            <a:off x="1162050" y="2103120"/>
            <a:ext cx="4533900" cy="3886200"/>
          </a:xfrm>
          <a:prstGeom prst="rect">
            <a:avLst/>
          </a:prstGeom>
        </p:spPr>
      </p:pic>
      <p:sp>
        <p:nvSpPr>
          <p:cNvPr id="9" name="Text 5"/>
          <p:cNvSpPr/>
          <p:nvPr/>
        </p:nvSpPr>
        <p:spPr>
          <a:xfrm>
            <a:off x="640080" y="6053328"/>
            <a:ext cx="5577840" cy="310896"/>
          </a:xfrm>
          <a:prstGeom prst="rect">
            <a:avLst/>
          </a:prstGeom>
          <a:noFill/>
          <a:ln/>
        </p:spPr>
        <p:txBody>
          <a:bodyPr wrap="square" lIns="0" tIns="0" rIns="0" bIns="0" rtlCol="0" anchor="t"/>
          <a:lstStyle/>
          <a:p>
            <a:pPr algn="ctr" indent="0" marL="0">
              <a:buNone/>
            </a:pPr>
            <a:r>
              <a:rPr lang="en-US" sz="1050" i="1" dirty="0">
                <a:solidFill>
                  <a:srgbClr val="475569"/>
                </a:solidFill>
                <a:latin typeface="Calibri" pitchFamily="34" charset="0"/>
                <a:ea typeface="Calibri" pitchFamily="34" charset="-122"/>
                <a:cs typeface="Calibri" pitchFamily="34" charset="-120"/>
              </a:rPr>
              <a:t>Fig 6.2 — reference vs measured, one pair per (profile × controller).</a:t>
            </a:r>
            <a:endParaRPr lang="en-US" sz="1050" dirty="0"/>
          </a:p>
        </p:txBody>
      </p:sp>
      <p:sp>
        <p:nvSpPr>
          <p:cNvPr id="10" name="Shape 6"/>
          <p:cNvSpPr/>
          <p:nvPr/>
        </p:nvSpPr>
        <p:spPr>
          <a:xfrm>
            <a:off x="6446520" y="2103120"/>
            <a:ext cx="5102352" cy="3886200"/>
          </a:xfrm>
          <a:prstGeom prst="roundRect">
            <a:avLst>
              <a:gd name="adj" fmla="val 1647"/>
            </a:avLst>
          </a:prstGeom>
          <a:solidFill>
            <a:srgbClr val="FFFFFF"/>
          </a:solidFill>
          <a:ln w="12700">
            <a:solidFill>
              <a:srgbClr val="D8E0E8"/>
            </a:solidFill>
            <a:prstDash val="solid"/>
          </a:ln>
          <a:effectLst>
            <a:outerShdw sx="100000" sy="100000" kx="0" ky="0" algn="bl" rotWithShape="0" blurRad="88900" dist="38100" dir="8100000">
              <a:srgbClr val="0F2440">
                <a:alpha val="12000"/>
              </a:srgbClr>
            </a:outerShdw>
          </a:effectLst>
        </p:spPr>
      </p:sp>
      <p:sp>
        <p:nvSpPr>
          <p:cNvPr id="11" name="Text 7"/>
          <p:cNvSpPr/>
          <p:nvPr/>
        </p:nvSpPr>
        <p:spPr>
          <a:xfrm>
            <a:off x="6647688" y="2249424"/>
            <a:ext cx="4700016" cy="365760"/>
          </a:xfrm>
          <a:prstGeom prst="rect">
            <a:avLst/>
          </a:prstGeom>
          <a:noFill/>
          <a:ln/>
        </p:spPr>
        <p:txBody>
          <a:bodyPr wrap="square" lIns="0" tIns="0" rIns="0" bIns="0" rtlCol="0" anchor="ctr"/>
          <a:lstStyle/>
          <a:p>
            <a:pPr algn="l" indent="0" marL="0">
              <a:buNone/>
            </a:pPr>
            <a:r>
              <a:rPr lang="en-US" sz="1350" b="1" dirty="0">
                <a:solidFill>
                  <a:srgbClr val="0F2440"/>
                </a:solidFill>
                <a:latin typeface="Trebuchet MS" pitchFamily="34" charset="0"/>
                <a:ea typeface="Trebuchet MS" pitchFamily="34" charset="-122"/>
                <a:cs typeface="Trebuchet MS" pitchFamily="34" charset="-120"/>
              </a:rPr>
              <a:t>The fairness check</a:t>
            </a:r>
            <a:endParaRPr lang="en-US" sz="1350" dirty="0"/>
          </a:p>
        </p:txBody>
      </p:sp>
      <p:sp>
        <p:nvSpPr>
          <p:cNvPr id="12" name="Text 8"/>
          <p:cNvSpPr/>
          <p:nvPr/>
        </p:nvSpPr>
        <p:spPr>
          <a:xfrm>
            <a:off x="6665976" y="2670048"/>
            <a:ext cx="4663440" cy="3191256"/>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Fairness gate satisfied: cascade RMS PWM ≤ 1.5× baseline on every profile (ratios 0.99–1.04) — no winning by hammering harder.</a:t>
            </a:r>
            <a:endParaRPr lang="en-US" sz="1300" dirty="0"/>
          </a:p>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Pre-registration: SHA-256 of metrics + success criteria committed before bench day.</a:t>
            </a:r>
            <a:endParaRPr lang="en-US" sz="1300" dirty="0"/>
          </a:p>
          <a:p>
            <a:pPr marL="152400" indent="-1524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Per-pair noise small: sd of differences 0.14–0.29 rpm — effects stable across 8 repetitions.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Cascade Model — Supervisor Review</dc:title>
  <dc:subject>PptxGenJS Presentation</dc:subject>
  <dc:creator>Piyush Tiwari</dc:creator>
  <cp:lastModifiedBy>Piyush Tiwari</cp:lastModifiedBy>
  <cp:revision>1</cp:revision>
  <dcterms:created xsi:type="dcterms:W3CDTF">2026-06-01T13:27:13Z</dcterms:created>
  <dcterms:modified xsi:type="dcterms:W3CDTF">2026-06-01T13:27:13Z</dcterms:modified>
</cp:coreProperties>
</file>